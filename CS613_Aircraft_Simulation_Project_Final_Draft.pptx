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57" r:id="rId3"/>
    <p:sldId id="268" r:id="rId4"/>
    <p:sldId id="270" r:id="rId5"/>
    <p:sldId id="283" r:id="rId6"/>
    <p:sldId id="261" r:id="rId7"/>
    <p:sldId id="278" r:id="rId8"/>
    <p:sldId id="281" r:id="rId9"/>
    <p:sldId id="284" r:id="rId10"/>
    <p:sldId id="285" r:id="rId11"/>
    <p:sldId id="288" r:id="rId12"/>
    <p:sldId id="267" r:id="rId13"/>
    <p:sldId id="273" r:id="rId14"/>
    <p:sldId id="274" r:id="rId15"/>
    <p:sldId id="275" r:id="rId16"/>
    <p:sldId id="276" r:id="rId17"/>
    <p:sldId id="282" r:id="rId18"/>
    <p:sldId id="277" r:id="rId19"/>
    <p:sldId id="279" r:id="rId20"/>
    <p:sldId id="280" r:id="rId21"/>
    <p:sldId id="26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in,Bhautik" initials="Am" lastIdx="1" clrIdx="0">
    <p:extLst>
      <p:ext uri="{19B8F6BF-5375-455C-9EA6-DF929625EA0E}">
        <p15:presenceInfo xmlns:p15="http://schemas.microsoft.com/office/powerpoint/2012/main" userId="S::ba555@drexel.edu::a5aaf9f2-0884-4f5a-9046-549617d6a71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94"/>
  </p:normalViewPr>
  <p:slideViewPr>
    <p:cSldViewPr snapToGrid="0">
      <p:cViewPr varScale="1">
        <p:scale>
          <a:sx n="121" d="100"/>
          <a:sy n="121" d="100"/>
        </p:scale>
        <p:origin x="20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4C0CAA-5F4A-47FC-9FF1-DB94E9B331A0}" type="datetimeFigureOut">
              <a:rPr lang="en-US"/>
              <a:t>3/29/20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A3E15F-1C23-4430-AC1A-57FB2536A9C1}" type="slidenum">
              <a:rPr lang="en-US"/>
              <a:t>‹#›</a:t>
            </a:fld>
            <a:endParaRPr lang="en-US"/>
          </a:p>
        </p:txBody>
      </p:sp>
    </p:spTree>
    <p:extLst>
      <p:ext uri="{BB962C8B-B14F-4D97-AF65-F5344CB8AC3E}">
        <p14:creationId xmlns:p14="http://schemas.microsoft.com/office/powerpoint/2010/main" val="2694043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r>
              <a:rPr lang="en-US"/>
              <a:t>P</a:t>
            </a:r>
          </a:p>
          <a:p>
            <a:pPr>
              <a:lnSpc>
                <a:spcPct val="90000"/>
              </a:lnSpc>
              <a:spcBef>
                <a:spcPts val="1000"/>
              </a:spcBef>
            </a:pPr>
            <a:r>
              <a:rPr lang="en-US"/>
              <a:t>Q</a:t>
            </a:r>
          </a:p>
          <a:p>
            <a:pPr>
              <a:lnSpc>
                <a:spcPct val="90000"/>
              </a:lnSpc>
              <a:spcBef>
                <a:spcPts val="1000"/>
              </a:spcBef>
            </a:pPr>
            <a:r>
              <a:rPr lang="en-US"/>
              <a:t>R</a:t>
            </a:r>
          </a:p>
          <a:p>
            <a:pPr>
              <a:lnSpc>
                <a:spcPct val="90000"/>
              </a:lnSpc>
              <a:spcBef>
                <a:spcPts val="1000"/>
              </a:spcBef>
            </a:pPr>
            <a:r>
              <a:rPr lang="en-US"/>
              <a:t>Elevation</a:t>
            </a:r>
          </a:p>
          <a:p>
            <a:pPr>
              <a:lnSpc>
                <a:spcPct val="90000"/>
              </a:lnSpc>
              <a:spcBef>
                <a:spcPts val="1000"/>
              </a:spcBef>
            </a:pPr>
            <a:r>
              <a:rPr lang="en-US"/>
              <a:t>Ail</a:t>
            </a:r>
          </a:p>
          <a:p>
            <a:pPr>
              <a:lnSpc>
                <a:spcPct val="90000"/>
              </a:lnSpc>
              <a:spcBef>
                <a:spcPts val="1000"/>
              </a:spcBef>
            </a:pPr>
            <a:r>
              <a:rPr lang="en-US"/>
              <a:t>Rudder</a:t>
            </a:r>
          </a:p>
          <a:p>
            <a:pPr>
              <a:lnSpc>
                <a:spcPct val="90000"/>
              </a:lnSpc>
              <a:spcBef>
                <a:spcPts val="1000"/>
              </a:spcBef>
            </a:pPr>
            <a:r>
              <a:rPr lang="en-US"/>
              <a:t>Throttle</a:t>
            </a:r>
          </a:p>
          <a:p>
            <a:pPr>
              <a:lnSpc>
                <a:spcPct val="90000"/>
              </a:lnSpc>
              <a:spcBef>
                <a:spcPts val="1000"/>
              </a:spcBef>
            </a:pPr>
            <a:r>
              <a:rPr lang="en-US"/>
              <a:t>Akt</a:t>
            </a:r>
          </a:p>
          <a:p>
            <a:pPr>
              <a:lnSpc>
                <a:spcPct val="90000"/>
              </a:lnSpc>
              <a:spcBef>
                <a:spcPts val="1000"/>
              </a:spcBef>
            </a:pPr>
            <a:r>
              <a:rPr lang="en-US"/>
              <a:t>stuck</a:t>
            </a:r>
          </a:p>
          <a:p>
            <a:endParaRPr lang="en-US">
              <a:cs typeface="Calibri"/>
            </a:endParaRPr>
          </a:p>
        </p:txBody>
      </p:sp>
      <p:sp>
        <p:nvSpPr>
          <p:cNvPr id="4" name="Slide Number Placeholder 3"/>
          <p:cNvSpPr>
            <a:spLocks noGrp="1"/>
          </p:cNvSpPr>
          <p:nvPr>
            <p:ph type="sldNum" sz="quarter" idx="5"/>
          </p:nvPr>
        </p:nvSpPr>
        <p:spPr/>
        <p:txBody>
          <a:bodyPr/>
          <a:lstStyle/>
          <a:p>
            <a:fld id="{B5A3E15F-1C23-4430-AC1A-57FB2536A9C1}" type="slidenum">
              <a:rPr lang="en-US"/>
              <a:t>6</a:t>
            </a:fld>
            <a:endParaRPr lang="en-US"/>
          </a:p>
        </p:txBody>
      </p:sp>
    </p:spTree>
    <p:extLst>
      <p:ext uri="{BB962C8B-B14F-4D97-AF65-F5344CB8AC3E}">
        <p14:creationId xmlns:p14="http://schemas.microsoft.com/office/powerpoint/2010/main" val="21063841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r>
              <a:rPr lang="en-US"/>
              <a:t>P</a:t>
            </a:r>
          </a:p>
          <a:p>
            <a:pPr>
              <a:lnSpc>
                <a:spcPct val="90000"/>
              </a:lnSpc>
              <a:spcBef>
                <a:spcPts val="1000"/>
              </a:spcBef>
            </a:pPr>
            <a:r>
              <a:rPr lang="en-US"/>
              <a:t>Q</a:t>
            </a:r>
          </a:p>
          <a:p>
            <a:pPr>
              <a:lnSpc>
                <a:spcPct val="90000"/>
              </a:lnSpc>
              <a:spcBef>
                <a:spcPts val="1000"/>
              </a:spcBef>
            </a:pPr>
            <a:r>
              <a:rPr lang="en-US"/>
              <a:t>R</a:t>
            </a:r>
          </a:p>
          <a:p>
            <a:pPr>
              <a:lnSpc>
                <a:spcPct val="90000"/>
              </a:lnSpc>
              <a:spcBef>
                <a:spcPts val="1000"/>
              </a:spcBef>
            </a:pPr>
            <a:r>
              <a:rPr lang="en-US"/>
              <a:t>Elevation</a:t>
            </a:r>
          </a:p>
          <a:p>
            <a:pPr>
              <a:lnSpc>
                <a:spcPct val="90000"/>
              </a:lnSpc>
              <a:spcBef>
                <a:spcPts val="1000"/>
              </a:spcBef>
            </a:pPr>
            <a:r>
              <a:rPr lang="en-US"/>
              <a:t>Ail</a:t>
            </a:r>
          </a:p>
          <a:p>
            <a:pPr>
              <a:lnSpc>
                <a:spcPct val="90000"/>
              </a:lnSpc>
              <a:spcBef>
                <a:spcPts val="1000"/>
              </a:spcBef>
            </a:pPr>
            <a:r>
              <a:rPr lang="en-US"/>
              <a:t>Rudder</a:t>
            </a:r>
          </a:p>
          <a:p>
            <a:pPr>
              <a:lnSpc>
                <a:spcPct val="90000"/>
              </a:lnSpc>
              <a:spcBef>
                <a:spcPts val="1000"/>
              </a:spcBef>
            </a:pPr>
            <a:r>
              <a:rPr lang="en-US"/>
              <a:t>Throttle</a:t>
            </a:r>
          </a:p>
          <a:p>
            <a:pPr>
              <a:lnSpc>
                <a:spcPct val="90000"/>
              </a:lnSpc>
              <a:spcBef>
                <a:spcPts val="1000"/>
              </a:spcBef>
            </a:pPr>
            <a:r>
              <a:rPr lang="en-US"/>
              <a:t>Akt</a:t>
            </a:r>
          </a:p>
          <a:p>
            <a:pPr>
              <a:lnSpc>
                <a:spcPct val="90000"/>
              </a:lnSpc>
              <a:spcBef>
                <a:spcPts val="1000"/>
              </a:spcBef>
            </a:pPr>
            <a:r>
              <a:rPr lang="en-US"/>
              <a:t>stuck</a:t>
            </a:r>
          </a:p>
          <a:p>
            <a:endParaRPr lang="en-US">
              <a:cs typeface="Calibri"/>
            </a:endParaRPr>
          </a:p>
        </p:txBody>
      </p:sp>
      <p:sp>
        <p:nvSpPr>
          <p:cNvPr id="4" name="Slide Number Placeholder 3"/>
          <p:cNvSpPr>
            <a:spLocks noGrp="1"/>
          </p:cNvSpPr>
          <p:nvPr>
            <p:ph type="sldNum" sz="quarter" idx="5"/>
          </p:nvPr>
        </p:nvSpPr>
        <p:spPr/>
        <p:txBody>
          <a:bodyPr/>
          <a:lstStyle/>
          <a:p>
            <a:fld id="{B5A3E15F-1C23-4430-AC1A-57FB2536A9C1}" type="slidenum">
              <a:rPr lang="en-US"/>
              <a:t>7</a:t>
            </a:fld>
            <a:endParaRPr lang="en-US"/>
          </a:p>
        </p:txBody>
      </p:sp>
    </p:spTree>
    <p:extLst>
      <p:ext uri="{BB962C8B-B14F-4D97-AF65-F5344CB8AC3E}">
        <p14:creationId xmlns:p14="http://schemas.microsoft.com/office/powerpoint/2010/main" val="2901189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r>
              <a:rPr lang="en-US"/>
              <a:t>P</a:t>
            </a:r>
          </a:p>
          <a:p>
            <a:pPr>
              <a:lnSpc>
                <a:spcPct val="90000"/>
              </a:lnSpc>
              <a:spcBef>
                <a:spcPts val="1000"/>
              </a:spcBef>
            </a:pPr>
            <a:r>
              <a:rPr lang="en-US"/>
              <a:t>Q</a:t>
            </a:r>
          </a:p>
          <a:p>
            <a:pPr>
              <a:lnSpc>
                <a:spcPct val="90000"/>
              </a:lnSpc>
              <a:spcBef>
                <a:spcPts val="1000"/>
              </a:spcBef>
            </a:pPr>
            <a:r>
              <a:rPr lang="en-US"/>
              <a:t>R</a:t>
            </a:r>
          </a:p>
          <a:p>
            <a:pPr>
              <a:lnSpc>
                <a:spcPct val="90000"/>
              </a:lnSpc>
              <a:spcBef>
                <a:spcPts val="1000"/>
              </a:spcBef>
            </a:pPr>
            <a:r>
              <a:rPr lang="en-US"/>
              <a:t>Elevation</a:t>
            </a:r>
          </a:p>
          <a:p>
            <a:pPr>
              <a:lnSpc>
                <a:spcPct val="90000"/>
              </a:lnSpc>
              <a:spcBef>
                <a:spcPts val="1000"/>
              </a:spcBef>
            </a:pPr>
            <a:r>
              <a:rPr lang="en-US"/>
              <a:t>Ail</a:t>
            </a:r>
          </a:p>
          <a:p>
            <a:pPr>
              <a:lnSpc>
                <a:spcPct val="90000"/>
              </a:lnSpc>
              <a:spcBef>
                <a:spcPts val="1000"/>
              </a:spcBef>
            </a:pPr>
            <a:r>
              <a:rPr lang="en-US"/>
              <a:t>Rudder</a:t>
            </a:r>
          </a:p>
          <a:p>
            <a:pPr>
              <a:lnSpc>
                <a:spcPct val="90000"/>
              </a:lnSpc>
              <a:spcBef>
                <a:spcPts val="1000"/>
              </a:spcBef>
            </a:pPr>
            <a:r>
              <a:rPr lang="en-US"/>
              <a:t>Throttle</a:t>
            </a:r>
          </a:p>
          <a:p>
            <a:pPr>
              <a:lnSpc>
                <a:spcPct val="90000"/>
              </a:lnSpc>
              <a:spcBef>
                <a:spcPts val="1000"/>
              </a:spcBef>
            </a:pPr>
            <a:r>
              <a:rPr lang="en-US"/>
              <a:t>Akt</a:t>
            </a:r>
          </a:p>
          <a:p>
            <a:pPr>
              <a:lnSpc>
                <a:spcPct val="90000"/>
              </a:lnSpc>
              <a:spcBef>
                <a:spcPts val="1000"/>
              </a:spcBef>
            </a:pPr>
            <a:r>
              <a:rPr lang="en-US"/>
              <a:t>stuck</a:t>
            </a:r>
          </a:p>
          <a:p>
            <a:endParaRPr lang="en-US">
              <a:cs typeface="Calibri"/>
            </a:endParaRPr>
          </a:p>
        </p:txBody>
      </p:sp>
      <p:sp>
        <p:nvSpPr>
          <p:cNvPr id="4" name="Slide Number Placeholder 3"/>
          <p:cNvSpPr>
            <a:spLocks noGrp="1"/>
          </p:cNvSpPr>
          <p:nvPr>
            <p:ph type="sldNum" sz="quarter" idx="5"/>
          </p:nvPr>
        </p:nvSpPr>
        <p:spPr/>
        <p:txBody>
          <a:bodyPr/>
          <a:lstStyle/>
          <a:p>
            <a:fld id="{B5A3E15F-1C23-4430-AC1A-57FB2536A9C1}" type="slidenum">
              <a:rPr lang="en-US"/>
              <a:t>8</a:t>
            </a:fld>
            <a:endParaRPr lang="en-US"/>
          </a:p>
        </p:txBody>
      </p:sp>
    </p:spTree>
    <p:extLst>
      <p:ext uri="{BB962C8B-B14F-4D97-AF65-F5344CB8AC3E}">
        <p14:creationId xmlns:p14="http://schemas.microsoft.com/office/powerpoint/2010/main" val="33711165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3/29/20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3/29/20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3/29/20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3/29/20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3/29/20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3/29/20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3/29/20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3/29/20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3/29/20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3/29/20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3/29/20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3/29/20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gif"/><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3.xml"/><Relationship Id="rId5" Type="http://schemas.openxmlformats.org/officeDocument/2006/relationships/image" Target="../media/image18.jpeg"/><Relationship Id="rId4" Type="http://schemas.openxmlformats.org/officeDocument/2006/relationships/image" Target="../media/image17.jpeg"/></Relationships>
</file>

<file path=ppt/slides/_rels/slide1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8" Type="http://schemas.openxmlformats.org/officeDocument/2006/relationships/hyperlink" Target="http://ataspinar.com/2018/04/04/machine-learning-with-signal-processing-techniques/" TargetMode="External"/><Relationship Id="rId3" Type="http://schemas.openxmlformats.org/officeDocument/2006/relationships/hyperlink" Target="https://www.ntsb.gov/investigations/data/Pages/aviation_stats.aspx" TargetMode="External"/><Relationship Id="rId7" Type="http://schemas.openxmlformats.org/officeDocument/2006/relationships/hyperlink" Target="https://www-clinicalkey-com.ezproxy2.library.drexel.edu/" TargetMode="External"/><Relationship Id="rId2" Type="http://schemas.openxmlformats.org/officeDocument/2006/relationships/hyperlink" Target="https://github.com/nasa/GTM_DesignSim" TargetMode="External"/><Relationship Id="rId1" Type="http://schemas.openxmlformats.org/officeDocument/2006/relationships/slideLayout" Target="../slideLayouts/slideLayout3.xml"/><Relationship Id="rId6" Type="http://schemas.openxmlformats.org/officeDocument/2006/relationships/hyperlink" Target="https://www.ncbi.nlm.nih.gov/pmc/articles/PMC4098612/" TargetMode="External"/><Relationship Id="rId5" Type="http://schemas.openxmlformats.org/officeDocument/2006/relationships/hyperlink" Target="https://www.emerald.com/insight/content/doi/10.1108/00022660510585992/full/pdf?title=sensor-and-control-surfaceactuator-failure-detection-and-isolation-applied-to-f16-flight-dynamic" TargetMode="External"/><Relationship Id="rId4" Type="http://schemas.openxmlformats.org/officeDocument/2006/relationships/hyperlink" Target="https://www.ntsb.gov/investigations/AccidentReports/Reports/AAR0201.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7DCF59F3-53FA-4BAA-ADB0-1C583EEBD9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38684"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8" name="Freeform: Shape 37">
            <a:extLst>
              <a:ext uri="{FF2B5EF4-FFF2-40B4-BE49-F238E27FC236}">
                <a16:creationId xmlns:a16="http://schemas.microsoft.com/office/drawing/2014/main" id="{49F1A7E4-819D-4D21-8E8B-32671A9F9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563919" y="753376"/>
            <a:ext cx="5353835" cy="5353835"/>
          </a:xfrm>
          <a:custGeom>
            <a:avLst/>
            <a:gdLst>
              <a:gd name="connsiteX0" fmla="*/ 690507 w 5353835"/>
              <a:gd name="connsiteY0" fmla="*/ 5273742 h 5353835"/>
              <a:gd name="connsiteX1" fmla="*/ 4938299 w 5353835"/>
              <a:gd name="connsiteY1" fmla="*/ 5273742 h 5353835"/>
              <a:gd name="connsiteX2" fmla="*/ 4858206 w 5353835"/>
              <a:gd name="connsiteY2" fmla="*/ 5353835 h 5353835"/>
              <a:gd name="connsiteX3" fmla="*/ 770600 w 5353835"/>
              <a:gd name="connsiteY3" fmla="*/ 5353835 h 5353835"/>
              <a:gd name="connsiteX4" fmla="*/ 433255 w 5353835"/>
              <a:gd name="connsiteY4" fmla="*/ 80093 h 5353835"/>
              <a:gd name="connsiteX5" fmla="*/ 513348 w 5353835"/>
              <a:gd name="connsiteY5" fmla="*/ 0 h 5353835"/>
              <a:gd name="connsiteX6" fmla="*/ 5353835 w 5353835"/>
              <a:gd name="connsiteY6" fmla="*/ 0 h 5353835"/>
              <a:gd name="connsiteX7" fmla="*/ 5353835 w 5353835"/>
              <a:gd name="connsiteY7" fmla="*/ 4858206 h 5353835"/>
              <a:gd name="connsiteX8" fmla="*/ 5273742 w 5353835"/>
              <a:gd name="connsiteY8" fmla="*/ 4938299 h 5353835"/>
              <a:gd name="connsiteX9" fmla="*/ 5273742 w 5353835"/>
              <a:gd name="connsiteY9" fmla="*/ 80093 h 5353835"/>
              <a:gd name="connsiteX10" fmla="*/ 0 w 5353835"/>
              <a:gd name="connsiteY10" fmla="*/ 513348 h 5353835"/>
              <a:gd name="connsiteX11" fmla="*/ 80093 w 5353835"/>
              <a:gd name="connsiteY11" fmla="*/ 433255 h 5353835"/>
              <a:gd name="connsiteX12" fmla="*/ 80093 w 5353835"/>
              <a:gd name="connsiteY12" fmla="*/ 4663328 h 5353835"/>
              <a:gd name="connsiteX13" fmla="*/ 0 w 5353835"/>
              <a:gd name="connsiteY13" fmla="*/ 4583235 h 5353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5">
                <a:moveTo>
                  <a:pt x="690507" y="5273742"/>
                </a:moveTo>
                <a:lnTo>
                  <a:pt x="4938299" y="5273742"/>
                </a:lnTo>
                <a:lnTo>
                  <a:pt x="4858206" y="5353835"/>
                </a:lnTo>
                <a:lnTo>
                  <a:pt x="770600" y="5353835"/>
                </a:lnTo>
                <a:close/>
                <a:moveTo>
                  <a:pt x="433255" y="80093"/>
                </a:moveTo>
                <a:lnTo>
                  <a:pt x="513348" y="0"/>
                </a:lnTo>
                <a:lnTo>
                  <a:pt x="5353835" y="0"/>
                </a:lnTo>
                <a:lnTo>
                  <a:pt x="5353835" y="4858206"/>
                </a:lnTo>
                <a:lnTo>
                  <a:pt x="5273742" y="4938299"/>
                </a:lnTo>
                <a:lnTo>
                  <a:pt x="5273742" y="80093"/>
                </a:lnTo>
                <a:close/>
                <a:moveTo>
                  <a:pt x="0" y="513348"/>
                </a:moveTo>
                <a:lnTo>
                  <a:pt x="80093" y="433255"/>
                </a:lnTo>
                <a:lnTo>
                  <a:pt x="80093" y="4663328"/>
                </a:lnTo>
                <a:lnTo>
                  <a:pt x="0" y="45832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 name="Title 1"/>
          <p:cNvSpPr>
            <a:spLocks noGrp="1"/>
          </p:cNvSpPr>
          <p:nvPr>
            <p:ph type="ctrTitle"/>
          </p:nvPr>
        </p:nvSpPr>
        <p:spPr>
          <a:xfrm>
            <a:off x="1116701" y="2452526"/>
            <a:ext cx="4248318" cy="1952947"/>
          </a:xfrm>
          <a:noFill/>
        </p:spPr>
        <p:txBody>
          <a:bodyPr anchor="ctr">
            <a:normAutofit/>
          </a:bodyPr>
          <a:lstStyle/>
          <a:p>
            <a:r>
              <a:rPr lang="en-US" sz="3300">
                <a:ea typeface="+mj-lt"/>
                <a:cs typeface="+mj-lt"/>
              </a:rPr>
              <a:t>Aircraft Fault Detection through ML-based classification</a:t>
            </a:r>
            <a:endParaRPr lang="en-US"/>
          </a:p>
        </p:txBody>
      </p:sp>
      <p:sp>
        <p:nvSpPr>
          <p:cNvPr id="3" name="Subtitle 2"/>
          <p:cNvSpPr>
            <a:spLocks noGrp="1"/>
          </p:cNvSpPr>
          <p:nvPr>
            <p:ph type="subTitle" idx="1"/>
          </p:nvPr>
        </p:nvSpPr>
        <p:spPr>
          <a:xfrm>
            <a:off x="1991745" y="4557900"/>
            <a:ext cx="2442690" cy="915772"/>
          </a:xfrm>
          <a:noFill/>
        </p:spPr>
        <p:txBody>
          <a:bodyPr vert="horz" lIns="91440" tIns="45720" rIns="91440" bIns="45720" rtlCol="0" anchor="t">
            <a:normAutofit lnSpcReduction="10000"/>
          </a:bodyPr>
          <a:lstStyle/>
          <a:p>
            <a:r>
              <a:rPr lang="en-US" sz="1400">
                <a:solidFill>
                  <a:srgbClr val="080808"/>
                </a:solidFill>
                <a:latin typeface="Baskerville Old Face"/>
                <a:cs typeface="Calibri"/>
              </a:rPr>
              <a:t>Team Members : </a:t>
            </a:r>
            <a:endParaRPr lang="en-US" sz="1400">
              <a:solidFill>
                <a:srgbClr val="080808"/>
              </a:solidFill>
              <a:cs typeface="Calibri"/>
            </a:endParaRPr>
          </a:p>
          <a:p>
            <a:r>
              <a:rPr lang="en-US" sz="1400" err="1">
                <a:solidFill>
                  <a:srgbClr val="080808"/>
                </a:solidFill>
                <a:latin typeface="Baskerville Old Face"/>
                <a:cs typeface="Calibri"/>
              </a:rPr>
              <a:t>Bhautik</a:t>
            </a:r>
            <a:r>
              <a:rPr lang="en-US" sz="1400">
                <a:solidFill>
                  <a:srgbClr val="080808"/>
                </a:solidFill>
                <a:latin typeface="Baskerville Old Face"/>
                <a:cs typeface="Calibri"/>
              </a:rPr>
              <a:t> (Brian) Amin, Mevlut Bayram, Ben Campos, Richard Hong</a:t>
            </a:r>
            <a:endParaRPr lang="en-US" sz="1400">
              <a:solidFill>
                <a:srgbClr val="080808"/>
              </a:solidFill>
              <a:cs typeface="Calibri"/>
            </a:endParaRPr>
          </a:p>
        </p:txBody>
      </p:sp>
      <p:sp>
        <p:nvSpPr>
          <p:cNvPr id="40" name="Rectangle 39">
            <a:extLst>
              <a:ext uri="{FF2B5EF4-FFF2-40B4-BE49-F238E27FC236}">
                <a16:creationId xmlns:a16="http://schemas.microsoft.com/office/drawing/2014/main" id="{0C661B50-6929-49AE-B678-D23F22C94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832420" y="678963"/>
            <a:ext cx="856138" cy="856138"/>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FA4D2597-A2FE-4B0C-BB1F-540C5F256A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900915" y="580653"/>
            <a:ext cx="381459" cy="381459"/>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DA103EBF-224C-44F4-ACE5-79865767D4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303021" y="5706832"/>
            <a:ext cx="723097" cy="72309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87A5F9AD-A73A-480E-A9D0-4B4234677F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689149" y="6190780"/>
            <a:ext cx="322181" cy="322182"/>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Shape 47">
            <a:extLst>
              <a:ext uri="{FF2B5EF4-FFF2-40B4-BE49-F238E27FC236}">
                <a16:creationId xmlns:a16="http://schemas.microsoft.com/office/drawing/2014/main" id="{A7333EA9-3447-4C0A-957A-C6D2B338C2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770076" y="1316432"/>
            <a:ext cx="4225136" cy="4225134"/>
          </a:xfrm>
          <a:custGeom>
            <a:avLst/>
            <a:gdLst>
              <a:gd name="connsiteX0" fmla="*/ 0 w 4225136"/>
              <a:gd name="connsiteY0" fmla="*/ 0 h 4225134"/>
              <a:gd name="connsiteX1" fmla="*/ 4225136 w 4225136"/>
              <a:gd name="connsiteY1" fmla="*/ 0 h 4225134"/>
              <a:gd name="connsiteX2" fmla="*/ 4225136 w 4225136"/>
              <a:gd name="connsiteY2" fmla="*/ 4225134 h 4225134"/>
              <a:gd name="connsiteX3" fmla="*/ 1078619 w 4225136"/>
              <a:gd name="connsiteY3" fmla="*/ 4225134 h 4225134"/>
              <a:gd name="connsiteX4" fmla="*/ 1078619 w 4225136"/>
              <a:gd name="connsiteY4" fmla="*/ 3146517 h 4225134"/>
              <a:gd name="connsiteX5" fmla="*/ 0 w 4225136"/>
              <a:gd name="connsiteY5" fmla="*/ 3146517 h 4225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25136" h="4225134">
                <a:moveTo>
                  <a:pt x="0" y="0"/>
                </a:moveTo>
                <a:lnTo>
                  <a:pt x="4225136" y="0"/>
                </a:lnTo>
                <a:lnTo>
                  <a:pt x="4225136" y="4225134"/>
                </a:lnTo>
                <a:lnTo>
                  <a:pt x="1078619" y="4225134"/>
                </a:lnTo>
                <a:lnTo>
                  <a:pt x="1078619" y="3146517"/>
                </a:lnTo>
                <a:lnTo>
                  <a:pt x="0" y="3146517"/>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p>
        </p:txBody>
      </p:sp>
      <p:pic>
        <p:nvPicPr>
          <p:cNvPr id="7" name="Graphic 6" descr="Airplane">
            <a:extLst>
              <a:ext uri="{FF2B5EF4-FFF2-40B4-BE49-F238E27FC236}">
                <a16:creationId xmlns:a16="http://schemas.microsoft.com/office/drawing/2014/main" id="{8D43AFB7-CAB4-4720-AD65-276CA87D4F0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77479" y="2105604"/>
            <a:ext cx="2646789" cy="2646789"/>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C0B27210-D0CA-4654-B3E3-9ABB4F178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006F43-F66A-46D3-B552-E8583E42C940}"/>
              </a:ext>
            </a:extLst>
          </p:cNvPr>
          <p:cNvSpPr>
            <a:spLocks noGrp="1"/>
          </p:cNvSpPr>
          <p:nvPr>
            <p:ph type="title"/>
          </p:nvPr>
        </p:nvSpPr>
        <p:spPr>
          <a:xfrm>
            <a:off x="6569175" y="92946"/>
            <a:ext cx="4645250" cy="2482019"/>
          </a:xfrm>
        </p:spPr>
        <p:txBody>
          <a:bodyPr vert="horz" lIns="91440" tIns="45720" rIns="91440" bIns="45720" rtlCol="0" anchor="b">
            <a:normAutofit/>
          </a:bodyPr>
          <a:lstStyle/>
          <a:p>
            <a:r>
              <a:rPr lang="en-US" kern="1200">
                <a:solidFill>
                  <a:schemeClr val="bg1"/>
                </a:solidFill>
                <a:latin typeface="+mj-lt"/>
                <a:ea typeface="+mj-ea"/>
                <a:cs typeface="+mj-cs"/>
              </a:rPr>
              <a:t>Introduction</a:t>
            </a:r>
          </a:p>
        </p:txBody>
      </p:sp>
      <p:sp>
        <p:nvSpPr>
          <p:cNvPr id="3" name="Text Placeholder 2">
            <a:extLst>
              <a:ext uri="{FF2B5EF4-FFF2-40B4-BE49-F238E27FC236}">
                <a16:creationId xmlns:a16="http://schemas.microsoft.com/office/drawing/2014/main" id="{B33BD0BF-03EB-48B3-9670-996A90EBAE07}"/>
              </a:ext>
            </a:extLst>
          </p:cNvPr>
          <p:cNvSpPr>
            <a:spLocks noGrp="1"/>
          </p:cNvSpPr>
          <p:nvPr>
            <p:ph type="body" idx="1"/>
          </p:nvPr>
        </p:nvSpPr>
        <p:spPr>
          <a:xfrm>
            <a:off x="6569175" y="3153824"/>
            <a:ext cx="4645250" cy="2901505"/>
          </a:xfrm>
        </p:spPr>
        <p:txBody>
          <a:bodyPr vert="horz" lIns="91440" tIns="45720" rIns="91440" bIns="45720" rtlCol="0" anchor="t">
            <a:normAutofit fontScale="92500" lnSpcReduction="20000"/>
          </a:bodyPr>
          <a:lstStyle/>
          <a:p>
            <a:pPr marL="342900" indent="-342900">
              <a:buChar char="•"/>
            </a:pPr>
            <a:r>
              <a:rPr lang="en-US" sz="2000">
                <a:solidFill>
                  <a:schemeClr val="bg1"/>
                </a:solidFill>
                <a:cs typeface="Calibri"/>
              </a:rPr>
              <a:t>Aircraft have actuators (Rudder, Elevator, Aileron)</a:t>
            </a:r>
          </a:p>
          <a:p>
            <a:pPr marL="342900" indent="-342900">
              <a:buChar char="•"/>
            </a:pPr>
            <a:r>
              <a:rPr lang="en-US" sz="2000">
                <a:solidFill>
                  <a:schemeClr val="bg1"/>
                </a:solidFill>
              </a:rPr>
              <a:t>Actuators play an important role for flight control</a:t>
            </a:r>
            <a:endParaRPr lang="en-US" sz="2000">
              <a:solidFill>
                <a:schemeClr val="bg1"/>
              </a:solidFill>
              <a:cs typeface="Calibri"/>
            </a:endParaRPr>
          </a:p>
          <a:p>
            <a:pPr marL="342900" indent="-342900">
              <a:buChar char="•"/>
            </a:pPr>
            <a:r>
              <a:rPr lang="en-US" sz="2000">
                <a:solidFill>
                  <a:schemeClr val="bg1"/>
                </a:solidFill>
                <a:cs typeface="Calibri"/>
              </a:rPr>
              <a:t>Actuator failures may cause fatal crashes</a:t>
            </a:r>
          </a:p>
          <a:p>
            <a:pPr marL="342900" indent="-342900">
              <a:buChar char="•"/>
            </a:pPr>
            <a:r>
              <a:rPr lang="en-US" sz="2000">
                <a:solidFill>
                  <a:schemeClr val="bg1"/>
                </a:solidFill>
                <a:cs typeface="Calibri"/>
              </a:rPr>
              <a:t>Nominal flight controllers might not locate the failures and failure detection is needed.</a:t>
            </a:r>
          </a:p>
          <a:p>
            <a:pPr marL="342900" indent="-342900">
              <a:buChar char="•"/>
            </a:pPr>
            <a:r>
              <a:rPr lang="en-US" sz="2000">
                <a:solidFill>
                  <a:schemeClr val="bg1"/>
                </a:solidFill>
                <a:cs typeface="Calibri"/>
              </a:rPr>
              <a:t>Early and correct detection may save the aircraft for a potential crash </a:t>
            </a:r>
          </a:p>
          <a:p>
            <a:endParaRPr lang="en-US" sz="2000">
              <a:solidFill>
                <a:schemeClr val="bg1"/>
              </a:solidFill>
              <a:cs typeface="Calibri"/>
            </a:endParaRPr>
          </a:p>
        </p:txBody>
      </p:sp>
      <p:sp>
        <p:nvSpPr>
          <p:cNvPr id="41" name="Freeform: Shape 40">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70B66945-4967-4040-926D-DCA44313C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24154" cy="685800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5" descr="A large passenger jet flying through a cloudy blue sky&#10;&#10;Description generated with very high confidence">
            <a:extLst>
              <a:ext uri="{FF2B5EF4-FFF2-40B4-BE49-F238E27FC236}">
                <a16:creationId xmlns:a16="http://schemas.microsoft.com/office/drawing/2014/main" id="{A56EF0B9-437F-414B-9834-6BFED9F6C26F}"/>
              </a:ext>
            </a:extLst>
          </p:cNvPr>
          <p:cNvPicPr>
            <a:picLocks noChangeAspect="1"/>
          </p:cNvPicPr>
          <p:nvPr/>
        </p:nvPicPr>
        <p:blipFill>
          <a:blip r:embed="rId2"/>
          <a:stretch>
            <a:fillRect/>
          </a:stretch>
        </p:blipFill>
        <p:spPr>
          <a:xfrm>
            <a:off x="-230998" y="2060"/>
            <a:ext cx="6396624" cy="6849648"/>
          </a:xfrm>
          <a:prstGeom prst="rect">
            <a:avLst/>
          </a:prstGeom>
        </p:spPr>
      </p:pic>
    </p:spTree>
    <p:extLst>
      <p:ext uri="{BB962C8B-B14F-4D97-AF65-F5344CB8AC3E}">
        <p14:creationId xmlns:p14="http://schemas.microsoft.com/office/powerpoint/2010/main" val="824631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B270761-CC40-4F3F-A916-7E3BC3989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695" cy="6858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820855C-9FA4-417A-BE67-63C022F81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7E6A49B-1B06-403E-8CC5-ACB38A6BD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2435" y="891540"/>
            <a:ext cx="10989565" cy="507111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006F43-F66A-46D3-B552-E8583E42C940}"/>
              </a:ext>
            </a:extLst>
          </p:cNvPr>
          <p:cNvSpPr>
            <a:spLocks noGrp="1"/>
          </p:cNvSpPr>
          <p:nvPr>
            <p:ph type="title"/>
          </p:nvPr>
        </p:nvSpPr>
        <p:spPr>
          <a:xfrm>
            <a:off x="1145586" y="-172922"/>
            <a:ext cx="7199995" cy="1156903"/>
          </a:xfrm>
        </p:spPr>
        <p:txBody>
          <a:bodyPr vert="horz" lIns="91440" tIns="45720" rIns="91440" bIns="45720" rtlCol="0" anchor="b">
            <a:noAutofit/>
          </a:bodyPr>
          <a:lstStyle/>
          <a:p>
            <a:r>
              <a:rPr lang="en-US" sz="4800">
                <a:cs typeface="Calibri Light"/>
              </a:rPr>
              <a:t>Problem Statement</a:t>
            </a:r>
            <a:endParaRPr lang="en-US" sz="4800"/>
          </a:p>
        </p:txBody>
      </p:sp>
      <p:sp>
        <p:nvSpPr>
          <p:cNvPr id="3" name="Text Placeholder 2">
            <a:extLst>
              <a:ext uri="{FF2B5EF4-FFF2-40B4-BE49-F238E27FC236}">
                <a16:creationId xmlns:a16="http://schemas.microsoft.com/office/drawing/2014/main" id="{B33BD0BF-03EB-48B3-9670-996A90EBAE07}"/>
              </a:ext>
            </a:extLst>
          </p:cNvPr>
          <p:cNvSpPr>
            <a:spLocks noGrp="1"/>
          </p:cNvSpPr>
          <p:nvPr>
            <p:ph type="body" idx="1"/>
          </p:nvPr>
        </p:nvSpPr>
        <p:spPr>
          <a:xfrm>
            <a:off x="1675375" y="1279162"/>
            <a:ext cx="5719459" cy="4202962"/>
          </a:xfrm>
        </p:spPr>
        <p:txBody>
          <a:bodyPr vert="horz" lIns="91440" tIns="45720" rIns="91440" bIns="45720" rtlCol="0" anchor="t">
            <a:normAutofit lnSpcReduction="10000"/>
          </a:bodyPr>
          <a:lstStyle/>
          <a:p>
            <a:endParaRPr lang="en-US">
              <a:solidFill>
                <a:schemeClr val="tx1"/>
              </a:solidFill>
              <a:cs typeface="Calibri"/>
            </a:endParaRPr>
          </a:p>
          <a:p>
            <a:pPr marL="342900" indent="-342900">
              <a:buChar char="•"/>
            </a:pPr>
            <a:r>
              <a:rPr lang="en-US">
                <a:solidFill>
                  <a:schemeClr val="tx1"/>
                </a:solidFill>
                <a:cs typeface="Calibri"/>
              </a:rPr>
              <a:t>Elevator is placed horizontally on tail which is a vital actuator that allows pitch up and down </a:t>
            </a:r>
          </a:p>
          <a:p>
            <a:pPr marL="342900" indent="-342900">
              <a:buChar char="•"/>
            </a:pPr>
            <a:r>
              <a:rPr lang="en-US">
                <a:solidFill>
                  <a:schemeClr val="tx1"/>
                </a:solidFill>
                <a:cs typeface="Calibri"/>
              </a:rPr>
              <a:t>Comparing other actuators, elevators failures are very complicated </a:t>
            </a:r>
          </a:p>
          <a:p>
            <a:pPr marL="342900" indent="-342900">
              <a:buChar char="•"/>
            </a:pPr>
            <a:r>
              <a:rPr lang="en-US">
                <a:solidFill>
                  <a:schemeClr val="tx1"/>
                </a:solidFill>
                <a:cs typeface="Calibri"/>
              </a:rPr>
              <a:t>Elevator jam may result with a fatal accident [4,5]</a:t>
            </a:r>
          </a:p>
          <a:p>
            <a:pPr marL="342900" indent="-342900">
              <a:buChar char="•"/>
            </a:pPr>
            <a:r>
              <a:rPr lang="en-US">
                <a:solidFill>
                  <a:schemeClr val="tx1"/>
                </a:solidFill>
                <a:cs typeface="Calibri"/>
              </a:rPr>
              <a:t>If stuck is detected,  a switching control system (controller) might save the aircraft [2,3]</a:t>
            </a:r>
          </a:p>
          <a:p>
            <a:endParaRPr lang="en-US">
              <a:solidFill>
                <a:schemeClr val="tx1"/>
              </a:solidFill>
              <a:cs typeface="Calibri"/>
            </a:endParaRPr>
          </a:p>
        </p:txBody>
      </p:sp>
      <p:pic>
        <p:nvPicPr>
          <p:cNvPr id="6" name="Picture 6" descr="A picture containing transport, aircraft, airplane, plane&#10;&#10;Description generated with very high confidence">
            <a:extLst>
              <a:ext uri="{FF2B5EF4-FFF2-40B4-BE49-F238E27FC236}">
                <a16:creationId xmlns:a16="http://schemas.microsoft.com/office/drawing/2014/main" id="{683D8EFC-535A-44D8-BD75-CC9CD67B0373}"/>
              </a:ext>
            </a:extLst>
          </p:cNvPr>
          <p:cNvPicPr>
            <a:picLocks noChangeAspect="1"/>
          </p:cNvPicPr>
          <p:nvPr/>
        </p:nvPicPr>
        <p:blipFill>
          <a:blip r:embed="rId2"/>
          <a:stretch>
            <a:fillRect/>
          </a:stretch>
        </p:blipFill>
        <p:spPr>
          <a:xfrm>
            <a:off x="7824591" y="936862"/>
            <a:ext cx="3369499" cy="2729590"/>
          </a:xfrm>
          <a:prstGeom prst="rect">
            <a:avLst/>
          </a:prstGeom>
        </p:spPr>
      </p:pic>
      <p:pic>
        <p:nvPicPr>
          <p:cNvPr id="4" name="Picture 4" descr="A picture containing transport, airplane&#10;&#10;Description generated with very high confidence">
            <a:extLst>
              <a:ext uri="{FF2B5EF4-FFF2-40B4-BE49-F238E27FC236}">
                <a16:creationId xmlns:a16="http://schemas.microsoft.com/office/drawing/2014/main" id="{FC1498DA-0271-476E-928F-6BBEEBF9E5D5}"/>
              </a:ext>
            </a:extLst>
          </p:cNvPr>
          <p:cNvPicPr>
            <a:picLocks noChangeAspect="1"/>
          </p:cNvPicPr>
          <p:nvPr/>
        </p:nvPicPr>
        <p:blipFill>
          <a:blip r:embed="rId3"/>
          <a:stretch>
            <a:fillRect/>
          </a:stretch>
        </p:blipFill>
        <p:spPr>
          <a:xfrm>
            <a:off x="7824592" y="3316457"/>
            <a:ext cx="3369500" cy="2531962"/>
          </a:xfrm>
          <a:prstGeom prst="rect">
            <a:avLst/>
          </a:prstGeom>
        </p:spPr>
      </p:pic>
      <p:sp>
        <p:nvSpPr>
          <p:cNvPr id="5" name="TextBox 4">
            <a:extLst>
              <a:ext uri="{FF2B5EF4-FFF2-40B4-BE49-F238E27FC236}">
                <a16:creationId xmlns:a16="http://schemas.microsoft.com/office/drawing/2014/main" id="{6310B8C5-1FDF-482A-B544-FFBA662D201B}"/>
              </a:ext>
            </a:extLst>
          </p:cNvPr>
          <p:cNvSpPr txBox="1"/>
          <p:nvPr/>
        </p:nvSpPr>
        <p:spPr>
          <a:xfrm rot="16200000">
            <a:off x="9442537" y="3398728"/>
            <a:ext cx="398536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Pictures from Nasa website nasa.gov</a:t>
            </a:r>
          </a:p>
        </p:txBody>
      </p:sp>
    </p:spTree>
    <p:extLst>
      <p:ext uri="{BB962C8B-B14F-4D97-AF65-F5344CB8AC3E}">
        <p14:creationId xmlns:p14="http://schemas.microsoft.com/office/powerpoint/2010/main" val="947912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B270761-CC40-4F3F-A916-7E3BC3989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695" cy="6858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820855C-9FA4-417A-BE67-63C022F81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7E6A49B-1B06-403E-8CC5-ACB38A6BD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2435" y="891540"/>
            <a:ext cx="10989565" cy="507111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006F43-F66A-46D3-B552-E8583E42C940}"/>
              </a:ext>
            </a:extLst>
          </p:cNvPr>
          <p:cNvSpPr>
            <a:spLocks noGrp="1"/>
          </p:cNvSpPr>
          <p:nvPr>
            <p:ph type="title"/>
          </p:nvPr>
        </p:nvSpPr>
        <p:spPr>
          <a:xfrm>
            <a:off x="1145586" y="-172922"/>
            <a:ext cx="7199995" cy="1156903"/>
          </a:xfrm>
        </p:spPr>
        <p:txBody>
          <a:bodyPr vert="horz" lIns="91440" tIns="45720" rIns="91440" bIns="45720" rtlCol="0" anchor="b">
            <a:noAutofit/>
          </a:bodyPr>
          <a:lstStyle/>
          <a:p>
            <a:r>
              <a:rPr lang="en-US" sz="4800">
                <a:cs typeface="Calibri Light"/>
              </a:rPr>
              <a:t>Data Collection </a:t>
            </a:r>
            <a:endParaRPr lang="en-US" sz="4800"/>
          </a:p>
        </p:txBody>
      </p:sp>
      <p:sp>
        <p:nvSpPr>
          <p:cNvPr id="3" name="Text Placeholder 2">
            <a:extLst>
              <a:ext uri="{FF2B5EF4-FFF2-40B4-BE49-F238E27FC236}">
                <a16:creationId xmlns:a16="http://schemas.microsoft.com/office/drawing/2014/main" id="{B33BD0BF-03EB-48B3-9670-996A90EBAE07}"/>
              </a:ext>
            </a:extLst>
          </p:cNvPr>
          <p:cNvSpPr>
            <a:spLocks noGrp="1"/>
          </p:cNvSpPr>
          <p:nvPr>
            <p:ph type="body" idx="1"/>
          </p:nvPr>
        </p:nvSpPr>
        <p:spPr>
          <a:xfrm>
            <a:off x="1435293" y="981800"/>
            <a:ext cx="6913572" cy="4967808"/>
          </a:xfrm>
        </p:spPr>
        <p:txBody>
          <a:bodyPr vert="horz" lIns="91440" tIns="45720" rIns="91440" bIns="45720" rtlCol="0" anchor="t">
            <a:normAutofit/>
          </a:bodyPr>
          <a:lstStyle/>
          <a:p>
            <a:endParaRPr lang="en-US">
              <a:solidFill>
                <a:schemeClr val="tx1"/>
              </a:solidFill>
              <a:cs typeface="Calibri"/>
            </a:endParaRPr>
          </a:p>
          <a:p>
            <a:pPr marL="342900" indent="-342900">
              <a:buChar char="•"/>
            </a:pPr>
            <a:r>
              <a:rPr lang="en-US">
                <a:solidFill>
                  <a:schemeClr val="tx1"/>
                </a:solidFill>
                <a:cs typeface="Calibri"/>
              </a:rPr>
              <a:t>A dynamically scaled Generic Transport Model (GTM) simulation designed by NASA to investigate the loss of control problems [1] is used for data collection. </a:t>
            </a:r>
          </a:p>
          <a:p>
            <a:pPr marL="342900" indent="-342900">
              <a:buChar char="•"/>
            </a:pPr>
            <a:r>
              <a:rPr lang="en-US">
                <a:solidFill>
                  <a:schemeClr val="tx1"/>
                </a:solidFill>
                <a:cs typeface="Calibri"/>
              </a:rPr>
              <a:t>46 different stuck and non-stuck cases are collected. </a:t>
            </a:r>
          </a:p>
          <a:p>
            <a:pPr marL="342900" indent="-342900">
              <a:buChar char="•"/>
            </a:pPr>
            <a:r>
              <a:rPr lang="en-US">
                <a:solidFill>
                  <a:schemeClr val="tx1"/>
                </a:solidFill>
                <a:cs typeface="Calibri"/>
              </a:rPr>
              <a:t>Ascending/Descending scenario added for non-stuck cases to make the problem more challenging </a:t>
            </a:r>
          </a:p>
          <a:p>
            <a:pPr marL="342900" indent="-342900">
              <a:buChar char="•"/>
            </a:pPr>
            <a:r>
              <a:rPr lang="en-US">
                <a:solidFill>
                  <a:schemeClr val="tx1"/>
                </a:solidFill>
                <a:cs typeface="Calibri"/>
              </a:rPr>
              <a:t>Elevator Jam occurred various time and angles.</a:t>
            </a:r>
            <a:r>
              <a:rPr lang="en-US">
                <a:cs typeface="Calibri"/>
              </a:rPr>
              <a:t> </a:t>
            </a:r>
          </a:p>
          <a:p>
            <a:endParaRPr lang="en-US">
              <a:cs typeface="Calibri"/>
            </a:endParaRPr>
          </a:p>
        </p:txBody>
      </p:sp>
      <p:pic>
        <p:nvPicPr>
          <p:cNvPr id="5" name="Picture 5" descr="A large air plane on a runway at an airport&#10;&#10;Description generated with very high confidence">
            <a:extLst>
              <a:ext uri="{FF2B5EF4-FFF2-40B4-BE49-F238E27FC236}">
                <a16:creationId xmlns:a16="http://schemas.microsoft.com/office/drawing/2014/main" id="{8B9090D8-838C-46B0-A1F0-19CFE9677A8F}"/>
              </a:ext>
            </a:extLst>
          </p:cNvPr>
          <p:cNvPicPr>
            <a:picLocks noChangeAspect="1"/>
          </p:cNvPicPr>
          <p:nvPr/>
        </p:nvPicPr>
        <p:blipFill>
          <a:blip r:embed="rId2"/>
          <a:stretch>
            <a:fillRect/>
          </a:stretch>
        </p:blipFill>
        <p:spPr>
          <a:xfrm>
            <a:off x="8509109" y="1056988"/>
            <a:ext cx="3525926" cy="2290262"/>
          </a:xfrm>
          <a:prstGeom prst="rect">
            <a:avLst/>
          </a:prstGeom>
        </p:spPr>
      </p:pic>
      <p:pic>
        <p:nvPicPr>
          <p:cNvPr id="10" name="Picture 10" descr="A screenshot of a cell phone&#10;&#10;Description generated with very high confidence">
            <a:extLst>
              <a:ext uri="{FF2B5EF4-FFF2-40B4-BE49-F238E27FC236}">
                <a16:creationId xmlns:a16="http://schemas.microsoft.com/office/drawing/2014/main" id="{0DB9F3EF-5333-405F-A136-911952535B57}"/>
              </a:ext>
            </a:extLst>
          </p:cNvPr>
          <p:cNvPicPr>
            <a:picLocks noChangeAspect="1"/>
          </p:cNvPicPr>
          <p:nvPr/>
        </p:nvPicPr>
        <p:blipFill>
          <a:blip r:embed="rId3"/>
          <a:stretch>
            <a:fillRect/>
          </a:stretch>
        </p:blipFill>
        <p:spPr>
          <a:xfrm>
            <a:off x="8513523" y="3837944"/>
            <a:ext cx="3526076" cy="1708191"/>
          </a:xfrm>
          <a:prstGeom prst="rect">
            <a:avLst/>
          </a:prstGeom>
        </p:spPr>
      </p:pic>
      <p:sp>
        <p:nvSpPr>
          <p:cNvPr id="4" name="TextBox 3">
            <a:extLst>
              <a:ext uri="{FF2B5EF4-FFF2-40B4-BE49-F238E27FC236}">
                <a16:creationId xmlns:a16="http://schemas.microsoft.com/office/drawing/2014/main" id="{4EE859D0-6F21-48CF-9F27-82C0A63332B9}"/>
              </a:ext>
            </a:extLst>
          </p:cNvPr>
          <p:cNvSpPr txBox="1"/>
          <p:nvPr/>
        </p:nvSpPr>
        <p:spPr>
          <a:xfrm>
            <a:off x="8732730" y="3430044"/>
            <a:ext cx="317117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Fig 2: GTM and Actual Model</a:t>
            </a:r>
          </a:p>
        </p:txBody>
      </p:sp>
      <p:sp>
        <p:nvSpPr>
          <p:cNvPr id="6" name="TextBox 5">
            <a:extLst>
              <a:ext uri="{FF2B5EF4-FFF2-40B4-BE49-F238E27FC236}">
                <a16:creationId xmlns:a16="http://schemas.microsoft.com/office/drawing/2014/main" id="{6DAEBC61-7327-4AF2-9C44-83931276442A}"/>
              </a:ext>
            </a:extLst>
          </p:cNvPr>
          <p:cNvSpPr txBox="1"/>
          <p:nvPr/>
        </p:nvSpPr>
        <p:spPr>
          <a:xfrm>
            <a:off x="8729467" y="5587522"/>
            <a:ext cx="322336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Fig 3: GTM Simulink Simulation </a:t>
            </a:r>
          </a:p>
        </p:txBody>
      </p:sp>
    </p:spTree>
    <p:extLst>
      <p:ext uri="{BB962C8B-B14F-4D97-AF65-F5344CB8AC3E}">
        <p14:creationId xmlns:p14="http://schemas.microsoft.com/office/powerpoint/2010/main" val="3760200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B270761-CC40-4F3F-A916-7E3BC3989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695" cy="6858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820855C-9FA4-417A-BE67-63C022F81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7E6A49B-1B06-403E-8CC5-ACB38A6BD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2435" y="891540"/>
            <a:ext cx="10989565" cy="507111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006F43-F66A-46D3-B552-E8583E42C940}"/>
              </a:ext>
            </a:extLst>
          </p:cNvPr>
          <p:cNvSpPr>
            <a:spLocks noGrp="1"/>
          </p:cNvSpPr>
          <p:nvPr>
            <p:ph type="title"/>
          </p:nvPr>
        </p:nvSpPr>
        <p:spPr>
          <a:xfrm>
            <a:off x="1145586" y="-172922"/>
            <a:ext cx="7199995" cy="1156903"/>
          </a:xfrm>
        </p:spPr>
        <p:txBody>
          <a:bodyPr vert="horz" lIns="91440" tIns="45720" rIns="91440" bIns="45720" rtlCol="0" anchor="b">
            <a:noAutofit/>
          </a:bodyPr>
          <a:lstStyle/>
          <a:p>
            <a:r>
              <a:rPr lang="en-US" sz="4800">
                <a:cs typeface="Calibri Light"/>
              </a:rPr>
              <a:t>Data Collection </a:t>
            </a:r>
            <a:endParaRPr lang="en-US" sz="4800"/>
          </a:p>
        </p:txBody>
      </p:sp>
      <p:sp>
        <p:nvSpPr>
          <p:cNvPr id="3" name="Text Placeholder 2">
            <a:extLst>
              <a:ext uri="{FF2B5EF4-FFF2-40B4-BE49-F238E27FC236}">
                <a16:creationId xmlns:a16="http://schemas.microsoft.com/office/drawing/2014/main" id="{B33BD0BF-03EB-48B3-9670-996A90EBAE07}"/>
              </a:ext>
            </a:extLst>
          </p:cNvPr>
          <p:cNvSpPr>
            <a:spLocks noGrp="1"/>
          </p:cNvSpPr>
          <p:nvPr>
            <p:ph type="body" idx="1"/>
          </p:nvPr>
        </p:nvSpPr>
        <p:spPr>
          <a:xfrm>
            <a:off x="1305753" y="973423"/>
            <a:ext cx="4313829" cy="4890224"/>
          </a:xfrm>
        </p:spPr>
        <p:txBody>
          <a:bodyPr vert="horz" lIns="91440" tIns="45720" rIns="91440" bIns="45720" rtlCol="0" anchor="t">
            <a:normAutofit fontScale="92500" lnSpcReduction="10000"/>
          </a:bodyPr>
          <a:lstStyle/>
          <a:p>
            <a:r>
              <a:rPr lang="en-US">
                <a:solidFill>
                  <a:schemeClr val="tx1"/>
                </a:solidFill>
                <a:ea typeface="+mn-lt"/>
                <a:cs typeface="+mn-lt"/>
              </a:rPr>
              <a:t>Non-Stuck Cases:</a:t>
            </a:r>
          </a:p>
          <a:p>
            <a:pPr marL="457200" indent="-457200">
              <a:buFont typeface="Arial"/>
              <a:buChar char="•"/>
            </a:pPr>
            <a:r>
              <a:rPr lang="en-US">
                <a:solidFill>
                  <a:schemeClr val="tx1"/>
                </a:solidFill>
                <a:ea typeface="+mn-lt"/>
                <a:cs typeface="+mn-lt"/>
              </a:rPr>
              <a:t>No ascend/descend, no stuck. Literally no changes in state </a:t>
            </a:r>
          </a:p>
          <a:p>
            <a:pPr marL="457200" indent="-457200">
              <a:buFont typeface="Arial"/>
              <a:buChar char="•"/>
            </a:pPr>
            <a:r>
              <a:rPr lang="en-US">
                <a:solidFill>
                  <a:schemeClr val="tx1"/>
                </a:solidFill>
                <a:ea typeface="+mn-lt"/>
                <a:cs typeface="+mn-lt"/>
              </a:rPr>
              <a:t>Ascend and descend 200 feet  with various climb rate and with various time</a:t>
            </a:r>
          </a:p>
          <a:p>
            <a:endParaRPr lang="en-US">
              <a:solidFill>
                <a:schemeClr val="tx1"/>
              </a:solidFill>
              <a:ea typeface="+mn-lt"/>
              <a:cs typeface="+mn-lt"/>
            </a:endParaRPr>
          </a:p>
          <a:p>
            <a:r>
              <a:rPr lang="en-US">
                <a:solidFill>
                  <a:schemeClr val="tx1"/>
                </a:solidFill>
                <a:ea typeface="+mn-lt"/>
                <a:cs typeface="+mn-lt"/>
              </a:rPr>
              <a:t>Stuck Cases:</a:t>
            </a:r>
          </a:p>
          <a:p>
            <a:pPr marL="457200" indent="-457200">
              <a:buFont typeface="Arial"/>
              <a:buChar char="•"/>
            </a:pPr>
            <a:r>
              <a:rPr lang="en-US">
                <a:solidFill>
                  <a:schemeClr val="tx1"/>
                </a:solidFill>
                <a:ea typeface="+mn-lt"/>
                <a:cs typeface="+mn-lt"/>
              </a:rPr>
              <a:t>No ascend/descend, but jam.</a:t>
            </a:r>
          </a:p>
          <a:p>
            <a:pPr marL="457200" indent="-457200">
              <a:buFont typeface="Arial"/>
              <a:buChar char="•"/>
            </a:pPr>
            <a:r>
              <a:rPr lang="en-US">
                <a:solidFill>
                  <a:schemeClr val="tx1"/>
                </a:solidFill>
                <a:cs typeface="Calibri"/>
              </a:rPr>
              <a:t>Ascend and descend 200 feet  with various climb rate</a:t>
            </a:r>
            <a:r>
              <a:rPr lang="en-US">
                <a:solidFill>
                  <a:schemeClr val="tx1"/>
                </a:solidFill>
                <a:ea typeface="+mn-lt"/>
                <a:cs typeface="+mn-lt"/>
              </a:rPr>
              <a:t> and elevator jammed an angle with a time.  </a:t>
            </a:r>
            <a:endParaRPr lang="en-US">
              <a:solidFill>
                <a:schemeClr val="tx1"/>
              </a:solidFill>
              <a:cs typeface="Calibri"/>
            </a:endParaRPr>
          </a:p>
          <a:p>
            <a:pPr marL="457200" indent="-457200">
              <a:buFont typeface="Arial"/>
              <a:buChar char="•"/>
            </a:pPr>
            <a:endParaRPr lang="en-US">
              <a:solidFill>
                <a:schemeClr val="tx1"/>
              </a:solidFill>
              <a:cs typeface="Calibri"/>
            </a:endParaRPr>
          </a:p>
          <a:p>
            <a:endParaRPr lang="en-US">
              <a:solidFill>
                <a:schemeClr val="tx1"/>
              </a:solidFill>
              <a:cs typeface="Calibri"/>
            </a:endParaRPr>
          </a:p>
        </p:txBody>
      </p:sp>
      <p:pic>
        <p:nvPicPr>
          <p:cNvPr id="7" name="Picture 2" descr="A close up of a map&#10;&#10;Description generated with high confidence">
            <a:extLst>
              <a:ext uri="{FF2B5EF4-FFF2-40B4-BE49-F238E27FC236}">
                <a16:creationId xmlns:a16="http://schemas.microsoft.com/office/drawing/2014/main" id="{C02D1C63-D441-45C1-A952-F33BB69E62CB}"/>
              </a:ext>
            </a:extLst>
          </p:cNvPr>
          <p:cNvPicPr>
            <a:picLocks noChangeAspect="1"/>
          </p:cNvPicPr>
          <p:nvPr/>
        </p:nvPicPr>
        <p:blipFill>
          <a:blip r:embed="rId2"/>
          <a:stretch>
            <a:fillRect/>
          </a:stretch>
        </p:blipFill>
        <p:spPr>
          <a:xfrm>
            <a:off x="5613225" y="666595"/>
            <a:ext cx="6469693" cy="3014384"/>
          </a:xfrm>
          <a:prstGeom prst="rect">
            <a:avLst/>
          </a:prstGeom>
        </p:spPr>
      </p:pic>
      <p:pic>
        <p:nvPicPr>
          <p:cNvPr id="8" name="Picture 4" descr="A screenshot of text&#10;&#10;Description generated with very high confidence">
            <a:extLst>
              <a:ext uri="{FF2B5EF4-FFF2-40B4-BE49-F238E27FC236}">
                <a16:creationId xmlns:a16="http://schemas.microsoft.com/office/drawing/2014/main" id="{560AC29F-5F18-47E7-9A0E-D2A023091709}"/>
              </a:ext>
            </a:extLst>
          </p:cNvPr>
          <p:cNvPicPr>
            <a:picLocks noChangeAspect="1"/>
          </p:cNvPicPr>
          <p:nvPr/>
        </p:nvPicPr>
        <p:blipFill>
          <a:blip r:embed="rId3"/>
          <a:stretch>
            <a:fillRect/>
          </a:stretch>
        </p:blipFill>
        <p:spPr>
          <a:xfrm>
            <a:off x="5623664" y="3682938"/>
            <a:ext cx="6469693" cy="2440958"/>
          </a:xfrm>
          <a:prstGeom prst="rect">
            <a:avLst/>
          </a:prstGeom>
        </p:spPr>
      </p:pic>
      <p:sp>
        <p:nvSpPr>
          <p:cNvPr id="9" name="TextBox 8">
            <a:extLst>
              <a:ext uri="{FF2B5EF4-FFF2-40B4-BE49-F238E27FC236}">
                <a16:creationId xmlns:a16="http://schemas.microsoft.com/office/drawing/2014/main" id="{39656C11-221B-4D5C-B738-52D5F5038B8F}"/>
              </a:ext>
            </a:extLst>
          </p:cNvPr>
          <p:cNvSpPr txBox="1"/>
          <p:nvPr/>
        </p:nvSpPr>
        <p:spPr>
          <a:xfrm>
            <a:off x="6844953" y="6230133"/>
            <a:ext cx="401667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Fig 4: All stuck and non-stuck calses </a:t>
            </a:r>
          </a:p>
        </p:txBody>
      </p:sp>
    </p:spTree>
    <p:extLst>
      <p:ext uri="{BB962C8B-B14F-4D97-AF65-F5344CB8AC3E}">
        <p14:creationId xmlns:p14="http://schemas.microsoft.com/office/powerpoint/2010/main" val="1293205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270761-CC40-4F3F-A916-7E3BC3989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695" cy="6858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820855C-9FA4-417A-BE67-63C022F81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7E6A49B-1B06-403E-8CC5-ACB38A6BD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2435" y="891540"/>
            <a:ext cx="10989565" cy="507111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D9379C-F9C1-49BE-8CA9-3596199B01E2}"/>
              </a:ext>
            </a:extLst>
          </p:cNvPr>
          <p:cNvSpPr>
            <a:spLocks noGrp="1"/>
          </p:cNvSpPr>
          <p:nvPr>
            <p:ph type="title"/>
          </p:nvPr>
        </p:nvSpPr>
        <p:spPr>
          <a:xfrm>
            <a:off x="1076653" y="333458"/>
            <a:ext cx="5401176" cy="594772"/>
          </a:xfrm>
        </p:spPr>
        <p:txBody>
          <a:bodyPr vert="horz" lIns="91440" tIns="45720" rIns="91440" bIns="45720" rtlCol="0" anchor="b">
            <a:noAutofit/>
          </a:bodyPr>
          <a:lstStyle/>
          <a:p>
            <a:r>
              <a:rPr lang="en-US" sz="4800">
                <a:ea typeface="+mj-lt"/>
                <a:cs typeface="+mj-lt"/>
              </a:rPr>
              <a:t>Flight Dynamics </a:t>
            </a:r>
            <a:endParaRPr lang="en-US" sz="4800">
              <a:cs typeface="Calibri Light"/>
            </a:endParaRPr>
          </a:p>
        </p:txBody>
      </p:sp>
      <p:sp>
        <p:nvSpPr>
          <p:cNvPr id="3" name="Text Placeholder 2">
            <a:extLst>
              <a:ext uri="{FF2B5EF4-FFF2-40B4-BE49-F238E27FC236}">
                <a16:creationId xmlns:a16="http://schemas.microsoft.com/office/drawing/2014/main" id="{1F5B15A8-705A-42DE-8DAE-D84324E51C4A}"/>
              </a:ext>
            </a:extLst>
          </p:cNvPr>
          <p:cNvSpPr>
            <a:spLocks noGrp="1"/>
          </p:cNvSpPr>
          <p:nvPr>
            <p:ph type="body" idx="1"/>
          </p:nvPr>
        </p:nvSpPr>
        <p:spPr>
          <a:xfrm>
            <a:off x="1155993" y="887040"/>
            <a:ext cx="10256333" cy="5241697"/>
          </a:xfrm>
        </p:spPr>
        <p:txBody>
          <a:bodyPr vert="horz" lIns="91440" tIns="45720" rIns="91440" bIns="45720" rtlCol="0" anchor="t">
            <a:normAutofit/>
          </a:bodyPr>
          <a:lstStyle/>
          <a:p>
            <a:endParaRPr lang="en-US">
              <a:solidFill>
                <a:schemeClr val="tx1"/>
              </a:solidFill>
              <a:cs typeface="Calibri"/>
            </a:endParaRPr>
          </a:p>
          <a:p>
            <a:pPr marL="342900" indent="-342900">
              <a:buChar char="•"/>
            </a:pPr>
            <a:r>
              <a:rPr lang="en-US">
                <a:solidFill>
                  <a:schemeClr val="tx1"/>
                </a:solidFill>
                <a:cs typeface="Calibri"/>
              </a:rPr>
              <a:t>Aircraft have complex and coupled dynamics</a:t>
            </a:r>
          </a:p>
          <a:p>
            <a:pPr marL="342900" indent="-342900">
              <a:buChar char="•"/>
            </a:pPr>
            <a:r>
              <a:rPr lang="en-US">
                <a:solidFill>
                  <a:schemeClr val="tx1"/>
                </a:solidFill>
                <a:ea typeface="+mn-lt"/>
                <a:cs typeface="+mn-lt"/>
              </a:rPr>
              <a:t>For the sake of simplicity, dynamics will be separated as Longitudinal and Lateral dynamics  </a:t>
            </a:r>
          </a:p>
          <a:p>
            <a:pPr marL="342900" indent="-342900">
              <a:buChar char="•"/>
            </a:pPr>
            <a:r>
              <a:rPr lang="en-US">
                <a:solidFill>
                  <a:schemeClr val="tx1"/>
                </a:solidFill>
                <a:ea typeface="+mn-lt"/>
                <a:cs typeface="+mn-lt"/>
              </a:rPr>
              <a:t>For the elevator detection problem, only the longitudinal dynamics will be considered</a:t>
            </a:r>
          </a:p>
          <a:p>
            <a:pPr marL="800100" lvl="1">
              <a:buChar char="•"/>
            </a:pPr>
            <a:r>
              <a:rPr lang="en-US">
                <a:solidFill>
                  <a:schemeClr val="tx1"/>
                </a:solidFill>
                <a:ea typeface="+mn-lt"/>
                <a:cs typeface="+mn-lt"/>
              </a:rPr>
              <a:t>The effect of elevator on other states (lateral dynamics ) are very small.  </a:t>
            </a:r>
          </a:p>
          <a:p>
            <a:pPr marL="800100" lvl="1">
              <a:buChar char="•"/>
            </a:pPr>
            <a:r>
              <a:rPr lang="en-US">
                <a:solidFill>
                  <a:schemeClr val="tx1"/>
                </a:solidFill>
                <a:ea typeface="+mn-lt"/>
                <a:cs typeface="+mn-lt"/>
              </a:rPr>
              <a:t> Longitudinal Features that will be considered: </a:t>
            </a:r>
          </a:p>
          <a:p>
            <a:pPr marL="1257300" lvl="2">
              <a:buChar char="•"/>
            </a:pPr>
            <a:r>
              <a:rPr lang="en-US">
                <a:solidFill>
                  <a:schemeClr val="tx1"/>
                </a:solidFill>
                <a:ea typeface="+mn-lt"/>
                <a:cs typeface="+mn-lt"/>
              </a:rPr>
              <a:t>Speed (TAS), Angle of Attack (Alpha), Pitch Angle (Theta), Pitch Rate (q)</a:t>
            </a:r>
            <a:r>
              <a:rPr lang="en-US">
                <a:solidFill>
                  <a:schemeClr val="tx1"/>
                </a:solidFill>
                <a:cs typeface="Calibri" panose="020F0502020204030204"/>
              </a:rPr>
              <a:t>                 </a:t>
            </a:r>
          </a:p>
          <a:p>
            <a:endParaRPr lang="en-US">
              <a:solidFill>
                <a:schemeClr val="tx1"/>
              </a:solidFill>
              <a:cs typeface="Calibri" panose="020F0502020204030204"/>
            </a:endParaRPr>
          </a:p>
        </p:txBody>
      </p:sp>
    </p:spTree>
    <p:extLst>
      <p:ext uri="{BB962C8B-B14F-4D97-AF65-F5344CB8AC3E}">
        <p14:creationId xmlns:p14="http://schemas.microsoft.com/office/powerpoint/2010/main" val="1261409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270761-CC40-4F3F-A916-7E3BC3989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695" cy="6858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820855C-9FA4-417A-BE67-63C022F81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7E6A49B-1B06-403E-8CC5-ACB38A6BD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2435" y="891540"/>
            <a:ext cx="10989565" cy="507111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D9379C-F9C1-49BE-8CA9-3596199B01E2}"/>
              </a:ext>
            </a:extLst>
          </p:cNvPr>
          <p:cNvSpPr>
            <a:spLocks noGrp="1"/>
          </p:cNvSpPr>
          <p:nvPr>
            <p:ph type="title"/>
          </p:nvPr>
        </p:nvSpPr>
        <p:spPr>
          <a:xfrm>
            <a:off x="1076653" y="333458"/>
            <a:ext cx="5401176" cy="594772"/>
          </a:xfrm>
        </p:spPr>
        <p:txBody>
          <a:bodyPr vert="horz" lIns="91440" tIns="45720" rIns="91440" bIns="45720" rtlCol="0" anchor="b">
            <a:noAutofit/>
          </a:bodyPr>
          <a:lstStyle/>
          <a:p>
            <a:r>
              <a:rPr lang="en-US" sz="4800">
                <a:ea typeface="+mj-lt"/>
                <a:cs typeface="+mj-lt"/>
              </a:rPr>
              <a:t>Preprocessing </a:t>
            </a:r>
            <a:endParaRPr lang="en-US" sz="4800">
              <a:cs typeface="Calibri Light"/>
            </a:endParaRPr>
          </a:p>
        </p:txBody>
      </p:sp>
      <p:sp>
        <p:nvSpPr>
          <p:cNvPr id="3" name="Text Placeholder 2">
            <a:extLst>
              <a:ext uri="{FF2B5EF4-FFF2-40B4-BE49-F238E27FC236}">
                <a16:creationId xmlns:a16="http://schemas.microsoft.com/office/drawing/2014/main" id="{1F5B15A8-705A-42DE-8DAE-D84324E51C4A}"/>
              </a:ext>
            </a:extLst>
          </p:cNvPr>
          <p:cNvSpPr>
            <a:spLocks noGrp="1"/>
          </p:cNvSpPr>
          <p:nvPr>
            <p:ph type="body" idx="1"/>
          </p:nvPr>
        </p:nvSpPr>
        <p:spPr>
          <a:xfrm>
            <a:off x="1155993" y="887040"/>
            <a:ext cx="6400008" cy="5008689"/>
          </a:xfrm>
        </p:spPr>
        <p:txBody>
          <a:bodyPr vert="horz" lIns="91440" tIns="45720" rIns="91440" bIns="45720" rtlCol="0" anchor="t">
            <a:normAutofit fontScale="92500" lnSpcReduction="10000"/>
          </a:bodyPr>
          <a:lstStyle/>
          <a:p>
            <a:endParaRPr lang="en-US">
              <a:solidFill>
                <a:schemeClr val="tx1"/>
              </a:solidFill>
              <a:cs typeface="Calibri"/>
            </a:endParaRPr>
          </a:p>
          <a:p>
            <a:pPr marL="342900" indent="-342900">
              <a:buChar char="•"/>
            </a:pPr>
            <a:r>
              <a:rPr lang="en-US">
                <a:solidFill>
                  <a:schemeClr val="tx1"/>
                </a:solidFill>
                <a:cs typeface="Calibri"/>
              </a:rPr>
              <a:t>The data was created using Matlab Simulink.</a:t>
            </a:r>
          </a:p>
          <a:p>
            <a:pPr marL="285750" indent="-285750">
              <a:buChar char="•"/>
            </a:pPr>
            <a:r>
              <a:rPr lang="en-US">
                <a:solidFill>
                  <a:schemeClr val="tx1"/>
                </a:solidFill>
                <a:ea typeface="+mn-lt"/>
                <a:cs typeface="+mn-lt"/>
              </a:rPr>
              <a:t>Trim sates:</a:t>
            </a:r>
            <a:endParaRPr lang="en-US">
              <a:ea typeface="+mn-lt"/>
              <a:cs typeface="+mn-lt"/>
            </a:endParaRPr>
          </a:p>
          <a:p>
            <a:r>
              <a:rPr lang="en-US">
                <a:solidFill>
                  <a:schemeClr val="tx1"/>
                </a:solidFill>
                <a:ea typeface="+mn-lt"/>
                <a:cs typeface="+mn-lt"/>
              </a:rPr>
              <a:t>                [V, alpha, theta, q]= [75.13 kt, 5</a:t>
            </a:r>
            <a:r>
              <a:rPr lang="en-US"/>
              <a:t>°</a:t>
            </a:r>
            <a:r>
              <a:rPr lang="en-US">
                <a:solidFill>
                  <a:schemeClr val="tx1"/>
                </a:solidFill>
              </a:rPr>
              <a:t>,</a:t>
            </a:r>
            <a:r>
              <a:rPr lang="en-US">
                <a:solidFill>
                  <a:schemeClr val="tx1"/>
                </a:solidFill>
                <a:ea typeface="+mn-lt"/>
                <a:cs typeface="+mn-lt"/>
              </a:rPr>
              <a:t> 5</a:t>
            </a:r>
            <a:r>
              <a:rPr lang="en-US">
                <a:ea typeface="+mn-lt"/>
                <a:cs typeface="+mn-lt"/>
              </a:rPr>
              <a:t>°</a:t>
            </a:r>
            <a:r>
              <a:rPr lang="en-US">
                <a:solidFill>
                  <a:schemeClr val="tx1"/>
                </a:solidFill>
                <a:ea typeface="+mn-lt"/>
                <a:cs typeface="+mn-lt"/>
              </a:rPr>
              <a:t>, 0 </a:t>
            </a:r>
            <a:r>
              <a:rPr lang="en-US">
                <a:ea typeface="+mn-lt"/>
                <a:cs typeface="+mn-lt"/>
              </a:rPr>
              <a:t>°</a:t>
            </a:r>
            <a:r>
              <a:rPr lang="en-US">
                <a:solidFill>
                  <a:schemeClr val="tx1"/>
                </a:solidFill>
                <a:ea typeface="+mn-lt"/>
                <a:cs typeface="+mn-lt"/>
              </a:rPr>
              <a:t>]</a:t>
            </a:r>
            <a:endParaRPr lang="en-US">
              <a:solidFill>
                <a:schemeClr val="tx1"/>
              </a:solidFill>
              <a:cs typeface="Calibri" panose="020F0502020204030204"/>
            </a:endParaRPr>
          </a:p>
          <a:p>
            <a:r>
              <a:rPr lang="en-US">
                <a:solidFill>
                  <a:schemeClr val="tx1"/>
                </a:solidFill>
                <a:cs typeface="Calibri" panose="020F0502020204030204"/>
              </a:rPr>
              <a:t>    Trimmed elevator, </a:t>
            </a:r>
            <a:r>
              <a:rPr lang="en-US" b="1">
                <a:ea typeface="+mn-lt"/>
                <a:cs typeface="+mn-lt"/>
              </a:rPr>
              <a:t>"δ" _</a:t>
            </a:r>
            <a:r>
              <a:rPr lang="en-US">
                <a:ea typeface="+mn-lt"/>
                <a:cs typeface="+mn-lt"/>
              </a:rPr>
              <a:t>e= 0.97°</a:t>
            </a:r>
            <a:endParaRPr lang="en-US">
              <a:solidFill>
                <a:schemeClr val="tx1"/>
              </a:solidFill>
              <a:cs typeface="Calibri"/>
            </a:endParaRPr>
          </a:p>
          <a:p>
            <a:pPr marL="342900" indent="-342900">
              <a:buChar char="•"/>
            </a:pPr>
            <a:r>
              <a:rPr lang="en-US">
                <a:solidFill>
                  <a:schemeClr val="tx1"/>
                </a:solidFill>
                <a:cs typeface="Calibri"/>
              </a:rPr>
              <a:t>Total 46 simulations that contain either stuck or not stuck cases  and then all simulations are combined.</a:t>
            </a:r>
            <a:endParaRPr lang="en-US">
              <a:solidFill>
                <a:schemeClr val="tx1"/>
              </a:solidFill>
              <a:ea typeface="+mn-lt"/>
              <a:cs typeface="+mn-lt"/>
            </a:endParaRPr>
          </a:p>
          <a:p>
            <a:pPr marL="342900" indent="-342900">
              <a:buChar char="•"/>
            </a:pPr>
            <a:r>
              <a:rPr lang="en-US">
                <a:solidFill>
                  <a:schemeClr val="tx1"/>
                </a:solidFill>
                <a:cs typeface="Calibri"/>
              </a:rPr>
              <a:t>Due to aircraft dynamics , ony 4 states are used:  Speed (tas), angle of attack (alpha), pitch angle (theta) and pitch rate(q). </a:t>
            </a:r>
          </a:p>
          <a:p>
            <a:pPr marL="342900" indent="-342900">
              <a:buChar char="•"/>
            </a:pPr>
            <a:r>
              <a:rPr lang="en-US">
                <a:solidFill>
                  <a:schemeClr val="tx1"/>
                </a:solidFill>
                <a:cs typeface="Calibri"/>
              </a:rPr>
              <a:t>Elevator most affect the 4 states above.   </a:t>
            </a:r>
          </a:p>
          <a:p>
            <a:pPr marL="342900" indent="-342900">
              <a:buChar char="•"/>
            </a:pPr>
            <a:r>
              <a:rPr lang="en-US">
                <a:solidFill>
                  <a:schemeClr val="tx1"/>
                </a:solidFill>
                <a:cs typeface="Calibri"/>
              </a:rPr>
              <a:t>Label is binary:  stuck (1) or no stuck (0)                                     </a:t>
            </a:r>
          </a:p>
          <a:p>
            <a:endParaRPr lang="en-US">
              <a:solidFill>
                <a:schemeClr val="tx1"/>
              </a:solidFill>
              <a:cs typeface="Calibri"/>
            </a:endParaRPr>
          </a:p>
        </p:txBody>
      </p:sp>
      <p:pic>
        <p:nvPicPr>
          <p:cNvPr id="6" name="Picture 6" descr="A screenshot of a cell phone&#10;&#10;Description generated with high confidence">
            <a:extLst>
              <a:ext uri="{FF2B5EF4-FFF2-40B4-BE49-F238E27FC236}">
                <a16:creationId xmlns:a16="http://schemas.microsoft.com/office/drawing/2014/main" id="{36B7CB0C-1923-42BF-AF30-25AAD39A447F}"/>
              </a:ext>
            </a:extLst>
          </p:cNvPr>
          <p:cNvPicPr>
            <a:picLocks noChangeAspect="1"/>
          </p:cNvPicPr>
          <p:nvPr/>
        </p:nvPicPr>
        <p:blipFill>
          <a:blip r:embed="rId3"/>
          <a:stretch>
            <a:fillRect/>
          </a:stretch>
        </p:blipFill>
        <p:spPr>
          <a:xfrm>
            <a:off x="7605386" y="1349098"/>
            <a:ext cx="4486405" cy="3877967"/>
          </a:xfrm>
          <a:prstGeom prst="rect">
            <a:avLst/>
          </a:prstGeom>
        </p:spPr>
      </p:pic>
      <p:sp>
        <p:nvSpPr>
          <p:cNvPr id="4" name="TextBox 3">
            <a:extLst>
              <a:ext uri="{FF2B5EF4-FFF2-40B4-BE49-F238E27FC236}">
                <a16:creationId xmlns:a16="http://schemas.microsoft.com/office/drawing/2014/main" id="{E8ADFA46-12AB-4C68-BDE4-D316B9E12954}"/>
              </a:ext>
            </a:extLst>
          </p:cNvPr>
          <p:cNvSpPr txBox="1"/>
          <p:nvPr/>
        </p:nvSpPr>
        <p:spPr>
          <a:xfrm>
            <a:off x="8002044" y="5402894"/>
            <a:ext cx="393317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Fig 5: Longitudinal states and label </a:t>
            </a:r>
          </a:p>
        </p:txBody>
      </p:sp>
    </p:spTree>
    <p:extLst>
      <p:ext uri="{BB962C8B-B14F-4D97-AF65-F5344CB8AC3E}">
        <p14:creationId xmlns:p14="http://schemas.microsoft.com/office/powerpoint/2010/main" val="651224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270761-CC40-4F3F-A916-7E3BC3989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695" cy="6858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820855C-9FA4-417A-BE67-63C022F81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7E6A49B-1B06-403E-8CC5-ACB38A6BD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2435" y="891540"/>
            <a:ext cx="10989565" cy="507111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D9379C-F9C1-49BE-8CA9-3596199B01E2}"/>
              </a:ext>
            </a:extLst>
          </p:cNvPr>
          <p:cNvSpPr>
            <a:spLocks noGrp="1"/>
          </p:cNvSpPr>
          <p:nvPr>
            <p:ph type="title"/>
          </p:nvPr>
        </p:nvSpPr>
        <p:spPr>
          <a:xfrm>
            <a:off x="1076653" y="333458"/>
            <a:ext cx="5401176" cy="594772"/>
          </a:xfrm>
        </p:spPr>
        <p:txBody>
          <a:bodyPr vert="horz" lIns="91440" tIns="45720" rIns="91440" bIns="45720" rtlCol="0" anchor="b">
            <a:noAutofit/>
          </a:bodyPr>
          <a:lstStyle/>
          <a:p>
            <a:r>
              <a:rPr lang="en-US" sz="4800">
                <a:ea typeface="+mj-lt"/>
                <a:cs typeface="+mj-lt"/>
              </a:rPr>
              <a:t>Basic Approach</a:t>
            </a:r>
            <a:endParaRPr lang="en-US" sz="4800">
              <a:cs typeface="Calibri Light"/>
            </a:endParaRPr>
          </a:p>
        </p:txBody>
      </p:sp>
      <p:sp>
        <p:nvSpPr>
          <p:cNvPr id="3" name="Text Placeholder 2">
            <a:extLst>
              <a:ext uri="{FF2B5EF4-FFF2-40B4-BE49-F238E27FC236}">
                <a16:creationId xmlns:a16="http://schemas.microsoft.com/office/drawing/2014/main" id="{1F5B15A8-705A-42DE-8DAE-D84324E51C4A}"/>
              </a:ext>
            </a:extLst>
          </p:cNvPr>
          <p:cNvSpPr>
            <a:spLocks noGrp="1"/>
          </p:cNvSpPr>
          <p:nvPr>
            <p:ph type="body" idx="1"/>
          </p:nvPr>
        </p:nvSpPr>
        <p:spPr>
          <a:xfrm>
            <a:off x="1155993" y="1189320"/>
            <a:ext cx="11034981" cy="4656029"/>
          </a:xfrm>
        </p:spPr>
        <p:txBody>
          <a:bodyPr vert="horz" lIns="91440" tIns="45720" rIns="91440" bIns="45720" rtlCol="0" anchor="t">
            <a:normAutofit fontScale="92500"/>
          </a:bodyPr>
          <a:lstStyle/>
          <a:p>
            <a:pPr marL="342900" indent="-342900">
              <a:buChar char="•"/>
            </a:pPr>
            <a:r>
              <a:rPr lang="en-US" sz="3200">
                <a:solidFill>
                  <a:schemeClr val="tx1"/>
                </a:solidFill>
                <a:cs typeface="Calibri"/>
              </a:rPr>
              <a:t>Supervised Learning Approach</a:t>
            </a:r>
          </a:p>
          <a:p>
            <a:pPr marL="342900" indent="-342900">
              <a:buChar char="•"/>
            </a:pPr>
            <a:r>
              <a:rPr lang="en-US" sz="3200">
                <a:solidFill>
                  <a:schemeClr val="tx1"/>
                </a:solidFill>
                <a:cs typeface="Calibri"/>
              </a:rPr>
              <a:t>Perform binary classification on the data set (Stuck or Not Stuck)</a:t>
            </a:r>
            <a:endParaRPr lang="en-US">
              <a:solidFill>
                <a:schemeClr val="tx1"/>
              </a:solidFill>
            </a:endParaRPr>
          </a:p>
          <a:p>
            <a:pPr marL="800100" lvl="1">
              <a:buChar char="•"/>
            </a:pPr>
            <a:r>
              <a:rPr lang="en-US" sz="2800">
                <a:solidFill>
                  <a:schemeClr val="tx1"/>
                </a:solidFill>
                <a:cs typeface="Calibri"/>
              </a:rPr>
              <a:t>Two Main Approaches:</a:t>
            </a:r>
          </a:p>
          <a:p>
            <a:pPr marL="1257300" lvl="2">
              <a:buChar char="•"/>
            </a:pPr>
            <a:r>
              <a:rPr lang="en-US" sz="2400">
                <a:solidFill>
                  <a:schemeClr val="tx1"/>
                </a:solidFill>
                <a:cs typeface="Calibri"/>
              </a:rPr>
              <a:t>Frequency Domain Approach (Using the Fast Fourier Transform</a:t>
            </a:r>
            <a:r>
              <a:rPr lang="en-US">
                <a:solidFill>
                  <a:schemeClr val="tx1"/>
                </a:solidFill>
                <a:cs typeface="Calibri"/>
              </a:rPr>
              <a:t>)</a:t>
            </a:r>
          </a:p>
          <a:p>
            <a:pPr marL="1257300" lvl="2">
              <a:buChar char="•"/>
            </a:pPr>
            <a:r>
              <a:rPr lang="en-US" sz="2400">
                <a:solidFill>
                  <a:schemeClr val="tx1"/>
                </a:solidFill>
                <a:cs typeface="Calibri"/>
              </a:rPr>
              <a:t>Time Domain Approach (Using the raw time-series data)</a:t>
            </a:r>
          </a:p>
          <a:p>
            <a:pPr marL="800100" lvl="1">
              <a:buChar char="•"/>
            </a:pPr>
            <a:r>
              <a:rPr lang="en-US" sz="2600">
                <a:solidFill>
                  <a:schemeClr val="tx1"/>
                </a:solidFill>
                <a:cs typeface="Calibri"/>
              </a:rPr>
              <a:t>Collect performance metrics using the following classifiers:</a:t>
            </a:r>
          </a:p>
          <a:p>
            <a:pPr marL="1257300" lvl="2">
              <a:buChar char="•"/>
            </a:pPr>
            <a:r>
              <a:rPr lang="en-US" sz="2400">
                <a:solidFill>
                  <a:schemeClr val="tx1"/>
                </a:solidFill>
                <a:cs typeface="Calibri"/>
              </a:rPr>
              <a:t>Random Forest</a:t>
            </a:r>
          </a:p>
          <a:p>
            <a:pPr marL="1257300" lvl="2">
              <a:buChar char="•"/>
            </a:pPr>
            <a:r>
              <a:rPr lang="en-US" sz="2400">
                <a:solidFill>
                  <a:schemeClr val="tx1"/>
                </a:solidFill>
                <a:cs typeface="Calibri"/>
              </a:rPr>
              <a:t>Decision Tree</a:t>
            </a:r>
            <a:endParaRPr lang="en-US">
              <a:solidFill>
                <a:schemeClr val="tx1"/>
              </a:solidFill>
              <a:cs typeface="Calibri"/>
            </a:endParaRPr>
          </a:p>
          <a:p>
            <a:pPr marL="1257300" lvl="2">
              <a:buChar char="•"/>
            </a:pPr>
            <a:r>
              <a:rPr lang="en-US" sz="2400">
                <a:solidFill>
                  <a:schemeClr val="tx1"/>
                </a:solidFill>
                <a:cs typeface="Calibri"/>
              </a:rPr>
              <a:t>Neural Network</a:t>
            </a:r>
            <a:endParaRPr lang="en-US">
              <a:solidFill>
                <a:schemeClr val="tx1"/>
              </a:solidFill>
              <a:cs typeface="Calibri"/>
            </a:endParaRPr>
          </a:p>
          <a:p>
            <a:pPr marL="1257300" lvl="2">
              <a:buChar char="•"/>
            </a:pPr>
            <a:r>
              <a:rPr lang="en-US" sz="2400">
                <a:solidFill>
                  <a:schemeClr val="tx1"/>
                </a:solidFill>
                <a:cs typeface="Calibri"/>
              </a:rPr>
              <a:t>Logistic Regression</a:t>
            </a:r>
            <a:endParaRPr lang="en-US">
              <a:solidFill>
                <a:schemeClr val="tx1"/>
              </a:solidFill>
              <a:cs typeface="Calibri"/>
            </a:endParaRPr>
          </a:p>
          <a:p>
            <a:r>
              <a:rPr lang="en-US">
                <a:solidFill>
                  <a:schemeClr val="tx1"/>
                </a:solidFill>
                <a:cs typeface="Calibri"/>
              </a:rPr>
              <a:t>                           </a:t>
            </a:r>
          </a:p>
          <a:p>
            <a:endParaRPr lang="en-US">
              <a:solidFill>
                <a:schemeClr val="tx1"/>
              </a:solidFill>
              <a:cs typeface="Calibri"/>
            </a:endParaRPr>
          </a:p>
        </p:txBody>
      </p:sp>
    </p:spTree>
    <p:extLst>
      <p:ext uri="{BB962C8B-B14F-4D97-AF65-F5344CB8AC3E}">
        <p14:creationId xmlns:p14="http://schemas.microsoft.com/office/powerpoint/2010/main" val="4046663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270761-CC40-4F3F-A916-7E3BC3989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695" cy="6858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820855C-9FA4-417A-BE67-63C022F81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7E6A49B-1B06-403E-8CC5-ACB38A6BD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2435" y="891540"/>
            <a:ext cx="10989565" cy="507111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DE12B5-FE84-47C7-9DFA-974E21CF7051}"/>
              </a:ext>
            </a:extLst>
          </p:cNvPr>
          <p:cNvSpPr>
            <a:spLocks noGrp="1"/>
          </p:cNvSpPr>
          <p:nvPr>
            <p:ph type="title"/>
          </p:nvPr>
        </p:nvSpPr>
        <p:spPr>
          <a:xfrm>
            <a:off x="1202056" y="163158"/>
            <a:ext cx="10763721" cy="797893"/>
          </a:xfrm>
        </p:spPr>
        <p:txBody>
          <a:bodyPr vert="horz" lIns="91440" tIns="45720" rIns="91440" bIns="45720" rtlCol="0" anchor="b">
            <a:noAutofit/>
          </a:bodyPr>
          <a:lstStyle/>
          <a:p>
            <a:r>
              <a:rPr lang="en-US" sz="4800">
                <a:cs typeface="Calibri Light" panose="020F0302020204030204"/>
              </a:rPr>
              <a:t>Supervised Learning: Frequency-Domain</a:t>
            </a:r>
            <a:endParaRPr lang="en-US" sz="4800" kern="1200">
              <a:solidFill>
                <a:schemeClr val="tx1"/>
              </a:solidFill>
              <a:latin typeface="+mj-lt"/>
              <a:cs typeface="Calibri Light" panose="020F0302020204030204"/>
            </a:endParaRPr>
          </a:p>
        </p:txBody>
      </p:sp>
      <p:sp>
        <p:nvSpPr>
          <p:cNvPr id="3" name="Text Placeholder 2">
            <a:extLst>
              <a:ext uri="{FF2B5EF4-FFF2-40B4-BE49-F238E27FC236}">
                <a16:creationId xmlns:a16="http://schemas.microsoft.com/office/drawing/2014/main" id="{9D07E59F-9ED6-46CA-BB11-D96DA8BF6147}"/>
              </a:ext>
            </a:extLst>
          </p:cNvPr>
          <p:cNvSpPr>
            <a:spLocks noGrp="1"/>
          </p:cNvSpPr>
          <p:nvPr>
            <p:ph type="body" idx="1"/>
          </p:nvPr>
        </p:nvSpPr>
        <p:spPr>
          <a:xfrm>
            <a:off x="1407912" y="964540"/>
            <a:ext cx="9623404" cy="4564131"/>
          </a:xfrm>
        </p:spPr>
        <p:txBody>
          <a:bodyPr vert="horz" lIns="91440" tIns="45720" rIns="91440" bIns="45720" rtlCol="0" anchor="t">
            <a:normAutofit/>
          </a:bodyPr>
          <a:lstStyle/>
          <a:p>
            <a:endParaRPr lang="en-US">
              <a:solidFill>
                <a:schemeClr val="tx1"/>
              </a:solidFill>
              <a:cs typeface="Calibri"/>
            </a:endParaRPr>
          </a:p>
          <a:p>
            <a:pPr marL="342900" indent="-342900">
              <a:buChar char="•"/>
            </a:pPr>
            <a:r>
              <a:rPr lang="en-US">
                <a:solidFill>
                  <a:schemeClr val="tx1"/>
                </a:solidFill>
                <a:cs typeface="Calibri"/>
              </a:rPr>
              <a:t>Data is converted into the frequency domain using the Fast Fourier Transform (FFT) algorithm</a:t>
            </a:r>
          </a:p>
        </p:txBody>
      </p:sp>
      <p:pic>
        <p:nvPicPr>
          <p:cNvPr id="4" name="Picture 4" descr="A close up of a map&#10;&#10;Description generated with very high confidence">
            <a:extLst>
              <a:ext uri="{FF2B5EF4-FFF2-40B4-BE49-F238E27FC236}">
                <a16:creationId xmlns:a16="http://schemas.microsoft.com/office/drawing/2014/main" id="{0900C7DE-14B2-4DDB-A617-C4E18F1216C4}"/>
              </a:ext>
            </a:extLst>
          </p:cNvPr>
          <p:cNvPicPr>
            <a:picLocks noChangeAspect="1"/>
          </p:cNvPicPr>
          <p:nvPr/>
        </p:nvPicPr>
        <p:blipFill>
          <a:blip r:embed="rId2"/>
          <a:stretch>
            <a:fillRect/>
          </a:stretch>
        </p:blipFill>
        <p:spPr>
          <a:xfrm>
            <a:off x="1407795" y="2537460"/>
            <a:ext cx="4438650" cy="3337560"/>
          </a:xfrm>
          <a:prstGeom prst="rect">
            <a:avLst/>
          </a:prstGeom>
        </p:spPr>
      </p:pic>
      <p:pic>
        <p:nvPicPr>
          <p:cNvPr id="6" name="Picture 6" descr="A close up of a map&#10;&#10;Description generated with high confidence">
            <a:extLst>
              <a:ext uri="{FF2B5EF4-FFF2-40B4-BE49-F238E27FC236}">
                <a16:creationId xmlns:a16="http://schemas.microsoft.com/office/drawing/2014/main" id="{01A4094C-A2EB-4B68-8F96-E9104EAA058A}"/>
              </a:ext>
            </a:extLst>
          </p:cNvPr>
          <p:cNvPicPr>
            <a:picLocks noChangeAspect="1"/>
          </p:cNvPicPr>
          <p:nvPr/>
        </p:nvPicPr>
        <p:blipFill>
          <a:blip r:embed="rId3"/>
          <a:stretch>
            <a:fillRect/>
          </a:stretch>
        </p:blipFill>
        <p:spPr>
          <a:xfrm>
            <a:off x="6693217" y="2443162"/>
            <a:ext cx="4688205" cy="3526155"/>
          </a:xfrm>
          <a:prstGeom prst="rect">
            <a:avLst/>
          </a:prstGeom>
        </p:spPr>
      </p:pic>
      <p:cxnSp>
        <p:nvCxnSpPr>
          <p:cNvPr id="9" name="Straight Arrow Connector 8">
            <a:extLst>
              <a:ext uri="{FF2B5EF4-FFF2-40B4-BE49-F238E27FC236}">
                <a16:creationId xmlns:a16="http://schemas.microsoft.com/office/drawing/2014/main" id="{F0EFC53B-29E2-4DD2-848D-913077EB0A10}"/>
              </a:ext>
            </a:extLst>
          </p:cNvPr>
          <p:cNvCxnSpPr/>
          <p:nvPr/>
        </p:nvCxnSpPr>
        <p:spPr>
          <a:xfrm>
            <a:off x="6029245" y="4042377"/>
            <a:ext cx="467277" cy="1261"/>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30917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270761-CC40-4F3F-A916-7E3BC3989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695" cy="6858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820855C-9FA4-417A-BE67-63C022F81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7E6A49B-1B06-403E-8CC5-ACB38A6BD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2435" y="891540"/>
            <a:ext cx="10989565" cy="507111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DE12B5-FE84-47C7-9DFA-974E21CF7051}"/>
              </a:ext>
            </a:extLst>
          </p:cNvPr>
          <p:cNvSpPr>
            <a:spLocks noGrp="1"/>
          </p:cNvSpPr>
          <p:nvPr>
            <p:ph type="title"/>
          </p:nvPr>
        </p:nvSpPr>
        <p:spPr>
          <a:xfrm>
            <a:off x="1202056" y="163158"/>
            <a:ext cx="10763721" cy="797893"/>
          </a:xfrm>
        </p:spPr>
        <p:txBody>
          <a:bodyPr vert="horz" lIns="91440" tIns="45720" rIns="91440" bIns="45720" rtlCol="0" anchor="b">
            <a:noAutofit/>
          </a:bodyPr>
          <a:lstStyle/>
          <a:p>
            <a:r>
              <a:rPr lang="en-US" sz="4800">
                <a:cs typeface="Calibri Light" panose="020F0302020204030204"/>
              </a:rPr>
              <a:t>Supervised Learning: Frequency-Domain</a:t>
            </a:r>
            <a:endParaRPr lang="en-US" sz="4800" kern="1200">
              <a:solidFill>
                <a:schemeClr val="tx1"/>
              </a:solidFill>
              <a:latin typeface="+mj-lt"/>
              <a:cs typeface="Calibri Light" panose="020F0302020204030204"/>
            </a:endParaRPr>
          </a:p>
        </p:txBody>
      </p:sp>
      <p:sp>
        <p:nvSpPr>
          <p:cNvPr id="3" name="Text Placeholder 2">
            <a:extLst>
              <a:ext uri="{FF2B5EF4-FFF2-40B4-BE49-F238E27FC236}">
                <a16:creationId xmlns:a16="http://schemas.microsoft.com/office/drawing/2014/main" id="{9D07E59F-9ED6-46CA-BB11-D96DA8BF6147}"/>
              </a:ext>
            </a:extLst>
          </p:cNvPr>
          <p:cNvSpPr>
            <a:spLocks noGrp="1"/>
          </p:cNvSpPr>
          <p:nvPr>
            <p:ph type="body" idx="1"/>
          </p:nvPr>
        </p:nvSpPr>
        <p:spPr>
          <a:xfrm>
            <a:off x="1407912" y="964540"/>
            <a:ext cx="5183652" cy="4564131"/>
          </a:xfrm>
        </p:spPr>
        <p:txBody>
          <a:bodyPr vert="horz" lIns="91440" tIns="45720" rIns="91440" bIns="45720" rtlCol="0" anchor="t">
            <a:normAutofit/>
          </a:bodyPr>
          <a:lstStyle/>
          <a:p>
            <a:endParaRPr lang="en-US">
              <a:solidFill>
                <a:schemeClr val="tx1"/>
              </a:solidFill>
              <a:cs typeface="Calibri"/>
            </a:endParaRPr>
          </a:p>
          <a:p>
            <a:pPr marL="342900" indent="-342900">
              <a:buChar char="•"/>
            </a:pPr>
            <a:r>
              <a:rPr lang="en-US">
                <a:solidFill>
                  <a:schemeClr val="tx1"/>
                </a:solidFill>
                <a:cs typeface="Calibri"/>
              </a:rPr>
              <a:t>Frequency-Domain can reveal patterns (Repeated sequences) within data</a:t>
            </a:r>
          </a:p>
          <a:p>
            <a:pPr marL="800100" lvl="1">
              <a:buChar char="•"/>
            </a:pPr>
            <a:r>
              <a:rPr lang="en-US">
                <a:solidFill>
                  <a:schemeClr val="tx1"/>
                </a:solidFill>
                <a:cs typeface="Calibri"/>
              </a:rPr>
              <a:t>Such patterns can relate to the aircraft performing a maneuver (Climbing, Descending, Stuck, Not Stuck)</a:t>
            </a:r>
          </a:p>
          <a:p>
            <a:pPr marL="342900" indent="-342900">
              <a:buChar char="•"/>
            </a:pPr>
            <a:r>
              <a:rPr lang="en-US">
                <a:solidFill>
                  <a:schemeClr val="tx1"/>
                </a:solidFill>
                <a:cs typeface="Calibri"/>
              </a:rPr>
              <a:t>By looking at the highest peaks in the data, and observing the associated frequency of the peak, a new feature set can be constructed</a:t>
            </a:r>
          </a:p>
        </p:txBody>
      </p:sp>
      <p:pic>
        <p:nvPicPr>
          <p:cNvPr id="6" name="Picture 6" descr="A close up of a map&#10;&#10;Description generated with high confidence">
            <a:extLst>
              <a:ext uri="{FF2B5EF4-FFF2-40B4-BE49-F238E27FC236}">
                <a16:creationId xmlns:a16="http://schemas.microsoft.com/office/drawing/2014/main" id="{01A4094C-A2EB-4B68-8F96-E9104EAA058A}"/>
              </a:ext>
            </a:extLst>
          </p:cNvPr>
          <p:cNvPicPr>
            <a:picLocks noChangeAspect="1"/>
          </p:cNvPicPr>
          <p:nvPr/>
        </p:nvPicPr>
        <p:blipFill>
          <a:blip r:embed="rId2"/>
          <a:stretch>
            <a:fillRect/>
          </a:stretch>
        </p:blipFill>
        <p:spPr>
          <a:xfrm>
            <a:off x="6699515" y="1485939"/>
            <a:ext cx="4688205" cy="3526155"/>
          </a:xfrm>
          <a:prstGeom prst="rect">
            <a:avLst/>
          </a:prstGeom>
        </p:spPr>
      </p:pic>
      <p:sp>
        <p:nvSpPr>
          <p:cNvPr id="5" name="Oval 4">
            <a:extLst>
              <a:ext uri="{FF2B5EF4-FFF2-40B4-BE49-F238E27FC236}">
                <a16:creationId xmlns:a16="http://schemas.microsoft.com/office/drawing/2014/main" id="{7DE9E73C-F53D-4FB7-9675-A35D83F672E8}"/>
              </a:ext>
            </a:extLst>
          </p:cNvPr>
          <p:cNvSpPr/>
          <p:nvPr/>
        </p:nvSpPr>
        <p:spPr>
          <a:xfrm>
            <a:off x="7326535" y="1806759"/>
            <a:ext cx="440826" cy="44082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7624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270761-CC40-4F3F-A916-7E3BC3989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695" cy="6858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820855C-9FA4-417A-BE67-63C022F81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7E6A49B-1B06-403E-8CC5-ACB38A6BD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2435" y="891540"/>
            <a:ext cx="10989565" cy="507111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DE12B5-FE84-47C7-9DFA-974E21CF7051}"/>
              </a:ext>
            </a:extLst>
          </p:cNvPr>
          <p:cNvSpPr>
            <a:spLocks noGrp="1"/>
          </p:cNvSpPr>
          <p:nvPr>
            <p:ph type="title"/>
          </p:nvPr>
        </p:nvSpPr>
        <p:spPr>
          <a:xfrm>
            <a:off x="1202056" y="163158"/>
            <a:ext cx="10763721" cy="797893"/>
          </a:xfrm>
        </p:spPr>
        <p:txBody>
          <a:bodyPr vert="horz" lIns="91440" tIns="45720" rIns="91440" bIns="45720" rtlCol="0" anchor="b">
            <a:noAutofit/>
          </a:bodyPr>
          <a:lstStyle/>
          <a:p>
            <a:r>
              <a:rPr lang="en-US" sz="4800">
                <a:cs typeface="Calibri Light" panose="020F0302020204030204"/>
              </a:rPr>
              <a:t>Supervised Learning: Frequency-Domain</a:t>
            </a:r>
            <a:endParaRPr lang="en-US" sz="4800" kern="1200">
              <a:solidFill>
                <a:schemeClr val="tx1"/>
              </a:solidFill>
              <a:latin typeface="+mj-lt"/>
              <a:cs typeface="Calibri Light" panose="020F0302020204030204"/>
            </a:endParaRPr>
          </a:p>
        </p:txBody>
      </p:sp>
      <p:pic>
        <p:nvPicPr>
          <p:cNvPr id="7" name="Picture 8" descr="A screenshot of a cell phone&#10;&#10;Description generated with very high confidence">
            <a:extLst>
              <a:ext uri="{FF2B5EF4-FFF2-40B4-BE49-F238E27FC236}">
                <a16:creationId xmlns:a16="http://schemas.microsoft.com/office/drawing/2014/main" id="{FDDEE1E6-C4C8-4B0A-9616-74CA812BB01A}"/>
              </a:ext>
            </a:extLst>
          </p:cNvPr>
          <p:cNvPicPr>
            <a:picLocks noChangeAspect="1"/>
          </p:cNvPicPr>
          <p:nvPr/>
        </p:nvPicPr>
        <p:blipFill>
          <a:blip r:embed="rId2"/>
          <a:stretch>
            <a:fillRect/>
          </a:stretch>
        </p:blipFill>
        <p:spPr>
          <a:xfrm>
            <a:off x="5704798" y="894051"/>
            <a:ext cx="6257720" cy="2032353"/>
          </a:xfrm>
          <a:prstGeom prst="rect">
            <a:avLst/>
          </a:prstGeom>
        </p:spPr>
      </p:pic>
      <p:sp>
        <p:nvSpPr>
          <p:cNvPr id="11" name="TextBox 10">
            <a:extLst>
              <a:ext uri="{FF2B5EF4-FFF2-40B4-BE49-F238E27FC236}">
                <a16:creationId xmlns:a16="http://schemas.microsoft.com/office/drawing/2014/main" id="{5E89B00E-6159-4CD7-987C-92AC3D91AC33}"/>
              </a:ext>
            </a:extLst>
          </p:cNvPr>
          <p:cNvSpPr txBox="1"/>
          <p:nvPr/>
        </p:nvSpPr>
        <p:spPr>
          <a:xfrm>
            <a:off x="4371739" y="2814613"/>
            <a:ext cx="892106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mn-lt"/>
                <a:cs typeface="+mn-lt"/>
              </a:rPr>
              <a:t>Logistic regression: Accuracy on Test Data: 0.35</a:t>
            </a:r>
            <a:endParaRPr lang="en-US"/>
          </a:p>
        </p:txBody>
      </p:sp>
      <p:pic>
        <p:nvPicPr>
          <p:cNvPr id="13" name="Picture 13" descr="A close up of text on a white background&#10;&#10;Description generated with very high confidence">
            <a:extLst>
              <a:ext uri="{FF2B5EF4-FFF2-40B4-BE49-F238E27FC236}">
                <a16:creationId xmlns:a16="http://schemas.microsoft.com/office/drawing/2014/main" id="{2AA29E6F-BAAA-44C0-A8D5-D237E5527EBB}"/>
              </a:ext>
            </a:extLst>
          </p:cNvPr>
          <p:cNvPicPr>
            <a:picLocks noChangeAspect="1"/>
          </p:cNvPicPr>
          <p:nvPr/>
        </p:nvPicPr>
        <p:blipFill>
          <a:blip r:embed="rId3"/>
          <a:stretch>
            <a:fillRect/>
          </a:stretch>
        </p:blipFill>
        <p:spPr>
          <a:xfrm>
            <a:off x="5829363" y="3184818"/>
            <a:ext cx="6136808" cy="1939690"/>
          </a:xfrm>
          <a:prstGeom prst="rect">
            <a:avLst/>
          </a:prstGeom>
        </p:spPr>
      </p:pic>
      <p:sp>
        <p:nvSpPr>
          <p:cNvPr id="15" name="TextBox 14">
            <a:extLst>
              <a:ext uri="{FF2B5EF4-FFF2-40B4-BE49-F238E27FC236}">
                <a16:creationId xmlns:a16="http://schemas.microsoft.com/office/drawing/2014/main" id="{4B6E54AA-4811-4B03-A61C-BB47DDAAA7D2}"/>
              </a:ext>
            </a:extLst>
          </p:cNvPr>
          <p:cNvSpPr txBox="1"/>
          <p:nvPr/>
        </p:nvSpPr>
        <p:spPr>
          <a:xfrm>
            <a:off x="4436666" y="5124796"/>
            <a:ext cx="892106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mn-lt"/>
                <a:cs typeface="+mn-lt"/>
              </a:rPr>
              <a:t>Random Forest: Accuracy on Test Data: 0.64</a:t>
            </a:r>
            <a:endParaRPr lang="en-US"/>
          </a:p>
        </p:txBody>
      </p:sp>
      <p:sp>
        <p:nvSpPr>
          <p:cNvPr id="17" name="TextBox 16">
            <a:extLst>
              <a:ext uri="{FF2B5EF4-FFF2-40B4-BE49-F238E27FC236}">
                <a16:creationId xmlns:a16="http://schemas.microsoft.com/office/drawing/2014/main" id="{F8421B87-4095-4794-AB34-5714B2AAD5DD}"/>
              </a:ext>
            </a:extLst>
          </p:cNvPr>
          <p:cNvSpPr txBox="1"/>
          <p:nvPr/>
        </p:nvSpPr>
        <p:spPr>
          <a:xfrm>
            <a:off x="1323739" y="1141111"/>
            <a:ext cx="4443530"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Calibri"/>
                <a:cs typeface="Calibri"/>
              </a:rPr>
              <a:t>Results:</a:t>
            </a:r>
          </a:p>
          <a:p>
            <a:pPr marL="342900" indent="-342900">
              <a:buFont typeface="Arial"/>
              <a:buChar char="•"/>
            </a:pPr>
            <a:r>
              <a:rPr lang="en-US" sz="2400">
                <a:latin typeface="Calibri"/>
                <a:cs typeface="Calibri"/>
              </a:rPr>
              <a:t>Training accuracy is near perfect</a:t>
            </a:r>
          </a:p>
          <a:p>
            <a:pPr marL="800100" lvl="1" indent="-342900">
              <a:buFont typeface="Arial"/>
              <a:buChar char="•"/>
            </a:pPr>
            <a:r>
              <a:rPr lang="en-US" sz="2400">
                <a:latin typeface="Calibri"/>
                <a:cs typeface="Calibri"/>
              </a:rPr>
              <a:t>May indicate possible overfitting</a:t>
            </a:r>
          </a:p>
          <a:p>
            <a:pPr marL="800100" lvl="1" indent="-342900">
              <a:buFont typeface="Arial"/>
              <a:buChar char="•"/>
            </a:pPr>
            <a:r>
              <a:rPr lang="en-US" sz="2400">
                <a:latin typeface="Calibri"/>
                <a:cs typeface="Calibri Light"/>
              </a:rPr>
              <a:t>More data for training needed​</a:t>
            </a:r>
            <a:endParaRPr lang="en-US" sz="2400">
              <a:latin typeface="Calibri"/>
              <a:cs typeface="Calibri"/>
            </a:endParaRPr>
          </a:p>
        </p:txBody>
      </p:sp>
    </p:spTree>
    <p:extLst>
      <p:ext uri="{BB962C8B-B14F-4D97-AF65-F5344CB8AC3E}">
        <p14:creationId xmlns:p14="http://schemas.microsoft.com/office/powerpoint/2010/main" val="1696123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270761-CC40-4F3F-A916-7E3BC3989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695" cy="6858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820855C-9FA4-417A-BE67-63C022F81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7E6A49B-1B06-403E-8CC5-ACB38A6BD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2435" y="891540"/>
            <a:ext cx="10989565" cy="507111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DE12B5-FE84-47C7-9DFA-974E21CF7051}"/>
              </a:ext>
            </a:extLst>
          </p:cNvPr>
          <p:cNvSpPr>
            <a:spLocks noGrp="1"/>
          </p:cNvSpPr>
          <p:nvPr>
            <p:ph type="title"/>
          </p:nvPr>
        </p:nvSpPr>
        <p:spPr>
          <a:xfrm>
            <a:off x="1202056" y="163158"/>
            <a:ext cx="10763721" cy="797893"/>
          </a:xfrm>
        </p:spPr>
        <p:txBody>
          <a:bodyPr vert="horz" lIns="91440" tIns="45720" rIns="91440" bIns="45720" rtlCol="0" anchor="b">
            <a:noAutofit/>
          </a:bodyPr>
          <a:lstStyle/>
          <a:p>
            <a:r>
              <a:rPr lang="en-US" sz="4800">
                <a:cs typeface="Calibri Light" panose="020F0302020204030204"/>
              </a:rPr>
              <a:t>Supervised Learning: Time-Domain Data</a:t>
            </a:r>
            <a:endParaRPr lang="en-US" sz="4800" kern="1200">
              <a:solidFill>
                <a:schemeClr val="tx1"/>
              </a:solidFill>
              <a:latin typeface="+mj-lt"/>
              <a:cs typeface="Calibri Light" panose="020F0302020204030204"/>
            </a:endParaRPr>
          </a:p>
        </p:txBody>
      </p:sp>
      <p:sp>
        <p:nvSpPr>
          <p:cNvPr id="3" name="Text Placeholder 2">
            <a:extLst>
              <a:ext uri="{FF2B5EF4-FFF2-40B4-BE49-F238E27FC236}">
                <a16:creationId xmlns:a16="http://schemas.microsoft.com/office/drawing/2014/main" id="{9D07E59F-9ED6-46CA-BB11-D96DA8BF6147}"/>
              </a:ext>
            </a:extLst>
          </p:cNvPr>
          <p:cNvSpPr>
            <a:spLocks noGrp="1"/>
          </p:cNvSpPr>
          <p:nvPr>
            <p:ph type="body" idx="1"/>
          </p:nvPr>
        </p:nvSpPr>
        <p:spPr>
          <a:xfrm>
            <a:off x="1407912" y="1246480"/>
            <a:ext cx="9623404" cy="4282191"/>
          </a:xfrm>
        </p:spPr>
        <p:txBody>
          <a:bodyPr vert="horz" lIns="91440" tIns="45720" rIns="91440" bIns="45720" rtlCol="0" anchor="t">
            <a:normAutofit/>
          </a:bodyPr>
          <a:lstStyle/>
          <a:p>
            <a:endParaRPr lang="en-US">
              <a:solidFill>
                <a:schemeClr val="tx1"/>
              </a:solidFill>
              <a:cs typeface="Calibri"/>
            </a:endParaRPr>
          </a:p>
          <a:p>
            <a:pPr marL="342900" indent="-342900">
              <a:buChar char="•"/>
            </a:pPr>
            <a:r>
              <a:rPr lang="en-US">
                <a:solidFill>
                  <a:schemeClr val="tx1"/>
                </a:solidFill>
                <a:cs typeface="Calibri"/>
              </a:rPr>
              <a:t>Each row in data (Fig.5) shows every 0.005 second from simulation  </a:t>
            </a:r>
          </a:p>
          <a:p>
            <a:pPr marL="342900" indent="-342900">
              <a:buChar char="•"/>
            </a:pPr>
            <a:r>
              <a:rPr lang="en-US">
                <a:solidFill>
                  <a:schemeClr val="tx1"/>
                </a:solidFill>
                <a:cs typeface="Calibri"/>
              </a:rPr>
              <a:t>Though the data looks like time series,  our work shows that the data is not time dependent</a:t>
            </a:r>
          </a:p>
          <a:p>
            <a:pPr marL="342900" indent="-342900">
              <a:buChar char="•"/>
            </a:pPr>
            <a:r>
              <a:rPr lang="en-US">
                <a:solidFill>
                  <a:schemeClr val="tx1"/>
                </a:solidFill>
                <a:cs typeface="Calibri"/>
              </a:rPr>
              <a:t>Each state assumed is a feature and label is binary (4 features , 1 label)</a:t>
            </a:r>
          </a:p>
          <a:p>
            <a:pPr marL="342900" indent="-342900">
              <a:buChar char="•"/>
            </a:pPr>
            <a:r>
              <a:rPr lang="en-US">
                <a:solidFill>
                  <a:schemeClr val="tx1"/>
                </a:solidFill>
                <a:cs typeface="Calibri"/>
              </a:rPr>
              <a:t>The data is standardized and separated as train and test data </a:t>
            </a:r>
          </a:p>
          <a:p>
            <a:pPr marL="342900" indent="-342900">
              <a:buChar char="•"/>
            </a:pPr>
            <a:r>
              <a:rPr lang="en-US">
                <a:solidFill>
                  <a:schemeClr val="tx1"/>
                </a:solidFill>
                <a:cs typeface="Calibri"/>
              </a:rPr>
              <a:t>Train model created for multiple ML algorithm such as logistic regression, decision tree etc. </a:t>
            </a:r>
          </a:p>
        </p:txBody>
      </p:sp>
    </p:spTree>
    <p:extLst>
      <p:ext uri="{BB962C8B-B14F-4D97-AF65-F5344CB8AC3E}">
        <p14:creationId xmlns:p14="http://schemas.microsoft.com/office/powerpoint/2010/main" val="758858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270761-CC40-4F3F-A916-7E3BC3989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695" cy="6858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820855C-9FA4-417A-BE67-63C022F81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7E6A49B-1B06-403E-8CC5-ACB38A6BD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2435" y="891540"/>
            <a:ext cx="10989565" cy="507111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DE12B5-FE84-47C7-9DFA-974E21CF7051}"/>
              </a:ext>
            </a:extLst>
          </p:cNvPr>
          <p:cNvSpPr>
            <a:spLocks noGrp="1"/>
          </p:cNvSpPr>
          <p:nvPr>
            <p:ph type="title"/>
          </p:nvPr>
        </p:nvSpPr>
        <p:spPr>
          <a:xfrm>
            <a:off x="1202056" y="163158"/>
            <a:ext cx="10782614" cy="797893"/>
          </a:xfrm>
        </p:spPr>
        <p:txBody>
          <a:bodyPr vert="horz" lIns="91440" tIns="45720" rIns="91440" bIns="45720" rtlCol="0" anchor="b">
            <a:noAutofit/>
          </a:bodyPr>
          <a:lstStyle/>
          <a:p>
            <a:r>
              <a:rPr lang="en-US" sz="4800">
                <a:cs typeface="Calibri Light" panose="020F0302020204030204"/>
              </a:rPr>
              <a:t>Supervised Learning: Time-Domain Data </a:t>
            </a:r>
            <a:endParaRPr lang="en-US" sz="4800" kern="1200">
              <a:solidFill>
                <a:schemeClr val="tx1"/>
              </a:solidFill>
              <a:latin typeface="+mj-lt"/>
              <a:cs typeface="Calibri Light" panose="020F0302020204030204"/>
            </a:endParaRPr>
          </a:p>
        </p:txBody>
      </p:sp>
      <p:pic>
        <p:nvPicPr>
          <p:cNvPr id="4" name="Picture 4" descr="A screenshot of text&#10;&#10;Description generated with very high confidence">
            <a:extLst>
              <a:ext uri="{FF2B5EF4-FFF2-40B4-BE49-F238E27FC236}">
                <a16:creationId xmlns:a16="http://schemas.microsoft.com/office/drawing/2014/main" id="{EA454953-1DE0-4AE1-B3D0-32DD4317B7A6}"/>
              </a:ext>
            </a:extLst>
          </p:cNvPr>
          <p:cNvPicPr>
            <a:picLocks noChangeAspect="1"/>
          </p:cNvPicPr>
          <p:nvPr/>
        </p:nvPicPr>
        <p:blipFill>
          <a:blip r:embed="rId2"/>
          <a:stretch>
            <a:fillRect/>
          </a:stretch>
        </p:blipFill>
        <p:spPr>
          <a:xfrm>
            <a:off x="1436317" y="1174436"/>
            <a:ext cx="4047995" cy="1388061"/>
          </a:xfrm>
          <a:prstGeom prst="rect">
            <a:avLst/>
          </a:prstGeom>
        </p:spPr>
      </p:pic>
      <p:pic>
        <p:nvPicPr>
          <p:cNvPr id="6" name="Picture 6" descr="A screenshot of a cell phone screen with text&#10;&#10;Description generated with high confidence">
            <a:extLst>
              <a:ext uri="{FF2B5EF4-FFF2-40B4-BE49-F238E27FC236}">
                <a16:creationId xmlns:a16="http://schemas.microsoft.com/office/drawing/2014/main" id="{8A43598A-A000-45BB-9A47-2B00B5FC7D82}"/>
              </a:ext>
            </a:extLst>
          </p:cNvPr>
          <p:cNvPicPr>
            <a:picLocks noChangeAspect="1"/>
          </p:cNvPicPr>
          <p:nvPr/>
        </p:nvPicPr>
        <p:blipFill>
          <a:blip r:embed="rId3"/>
          <a:stretch>
            <a:fillRect/>
          </a:stretch>
        </p:blipFill>
        <p:spPr>
          <a:xfrm>
            <a:off x="6697249" y="1187852"/>
            <a:ext cx="4047994" cy="1371664"/>
          </a:xfrm>
          <a:prstGeom prst="rect">
            <a:avLst/>
          </a:prstGeom>
        </p:spPr>
      </p:pic>
      <p:pic>
        <p:nvPicPr>
          <p:cNvPr id="9" name="Picture 10" descr="A screenshot of a cell phone&#10;&#10;Description generated with very high confidence">
            <a:extLst>
              <a:ext uri="{FF2B5EF4-FFF2-40B4-BE49-F238E27FC236}">
                <a16:creationId xmlns:a16="http://schemas.microsoft.com/office/drawing/2014/main" id="{A7B79133-A7BB-47AF-889C-99939C98E862}"/>
              </a:ext>
            </a:extLst>
          </p:cNvPr>
          <p:cNvPicPr>
            <a:picLocks noChangeAspect="1"/>
          </p:cNvPicPr>
          <p:nvPr/>
        </p:nvPicPr>
        <p:blipFill>
          <a:blip r:embed="rId4"/>
          <a:stretch>
            <a:fillRect/>
          </a:stretch>
        </p:blipFill>
        <p:spPr>
          <a:xfrm>
            <a:off x="6707688" y="3564221"/>
            <a:ext cx="4037556" cy="1357944"/>
          </a:xfrm>
          <a:prstGeom prst="rect">
            <a:avLst/>
          </a:prstGeom>
        </p:spPr>
      </p:pic>
      <p:pic>
        <p:nvPicPr>
          <p:cNvPr id="13" name="Picture 13" descr="A screenshot of a cell phone&#10;&#10;Description generated with very high confidence">
            <a:extLst>
              <a:ext uri="{FF2B5EF4-FFF2-40B4-BE49-F238E27FC236}">
                <a16:creationId xmlns:a16="http://schemas.microsoft.com/office/drawing/2014/main" id="{846586D5-EBB7-4371-B2FF-CF2495603983}"/>
              </a:ext>
            </a:extLst>
          </p:cNvPr>
          <p:cNvPicPr>
            <a:picLocks noChangeAspect="1"/>
          </p:cNvPicPr>
          <p:nvPr/>
        </p:nvPicPr>
        <p:blipFill>
          <a:blip r:embed="rId5"/>
          <a:stretch>
            <a:fillRect/>
          </a:stretch>
        </p:blipFill>
        <p:spPr>
          <a:xfrm>
            <a:off x="1436317" y="3488199"/>
            <a:ext cx="4037556" cy="1395164"/>
          </a:xfrm>
          <a:prstGeom prst="rect">
            <a:avLst/>
          </a:prstGeom>
        </p:spPr>
      </p:pic>
      <p:sp>
        <p:nvSpPr>
          <p:cNvPr id="15" name="TextBox 14">
            <a:extLst>
              <a:ext uri="{FF2B5EF4-FFF2-40B4-BE49-F238E27FC236}">
                <a16:creationId xmlns:a16="http://schemas.microsoft.com/office/drawing/2014/main" id="{F859DA2B-C2BD-431C-B070-D0093D836562}"/>
              </a:ext>
            </a:extLst>
          </p:cNvPr>
          <p:cNvSpPr txBox="1"/>
          <p:nvPr/>
        </p:nvSpPr>
        <p:spPr>
          <a:xfrm>
            <a:off x="1439562" y="2644346"/>
            <a:ext cx="406125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Logistic regression accuracy on Test Data: 0.78</a:t>
            </a:r>
          </a:p>
        </p:txBody>
      </p:sp>
      <p:sp>
        <p:nvSpPr>
          <p:cNvPr id="16" name="TextBox 15">
            <a:extLst>
              <a:ext uri="{FF2B5EF4-FFF2-40B4-BE49-F238E27FC236}">
                <a16:creationId xmlns:a16="http://schemas.microsoft.com/office/drawing/2014/main" id="{37A1D22F-FA11-43F4-8FD9-B89A6F3137E9}"/>
              </a:ext>
            </a:extLst>
          </p:cNvPr>
          <p:cNvSpPr txBox="1"/>
          <p:nvPr/>
        </p:nvSpPr>
        <p:spPr>
          <a:xfrm>
            <a:off x="6597221" y="2725436"/>
            <a:ext cx="416422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Naïve Bayes accuracy on Test Data: 0.94</a:t>
            </a:r>
            <a:endParaRPr lang="en-US"/>
          </a:p>
        </p:txBody>
      </p:sp>
      <p:sp>
        <p:nvSpPr>
          <p:cNvPr id="17" name="TextBox 16">
            <a:extLst>
              <a:ext uri="{FF2B5EF4-FFF2-40B4-BE49-F238E27FC236}">
                <a16:creationId xmlns:a16="http://schemas.microsoft.com/office/drawing/2014/main" id="{BB50EFCE-BD57-457A-A95E-B0CDE1D0ED55}"/>
              </a:ext>
            </a:extLst>
          </p:cNvPr>
          <p:cNvSpPr txBox="1"/>
          <p:nvPr/>
        </p:nvSpPr>
        <p:spPr>
          <a:xfrm>
            <a:off x="1436988" y="5113122"/>
            <a:ext cx="405095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Decision Tree accuracy on Test Data : ~1</a:t>
            </a:r>
            <a:endParaRPr lang="en-US"/>
          </a:p>
        </p:txBody>
      </p:sp>
      <p:sp>
        <p:nvSpPr>
          <p:cNvPr id="20" name="TextBox 19">
            <a:extLst>
              <a:ext uri="{FF2B5EF4-FFF2-40B4-BE49-F238E27FC236}">
                <a16:creationId xmlns:a16="http://schemas.microsoft.com/office/drawing/2014/main" id="{2FDA07D7-CDD7-43A3-B3BB-56AE89E076BA}"/>
              </a:ext>
            </a:extLst>
          </p:cNvPr>
          <p:cNvSpPr txBox="1"/>
          <p:nvPr/>
        </p:nvSpPr>
        <p:spPr>
          <a:xfrm>
            <a:off x="6594647" y="5173619"/>
            <a:ext cx="415392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Random Forest accuracy on Test Data : ~1</a:t>
            </a:r>
          </a:p>
        </p:txBody>
      </p:sp>
    </p:spTree>
    <p:extLst>
      <p:ext uri="{BB962C8B-B14F-4D97-AF65-F5344CB8AC3E}">
        <p14:creationId xmlns:p14="http://schemas.microsoft.com/office/powerpoint/2010/main" val="2203680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270761-CC40-4F3F-A916-7E3BC3989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695" cy="6858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820855C-9FA4-417A-BE67-63C022F81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7E6A49B-1B06-403E-8CC5-ACB38A6BD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2435" y="891540"/>
            <a:ext cx="10989565" cy="507111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DE12B5-FE84-47C7-9DFA-974E21CF7051}"/>
              </a:ext>
            </a:extLst>
          </p:cNvPr>
          <p:cNvSpPr>
            <a:spLocks noGrp="1"/>
          </p:cNvSpPr>
          <p:nvPr>
            <p:ph type="title"/>
          </p:nvPr>
        </p:nvSpPr>
        <p:spPr>
          <a:xfrm>
            <a:off x="1202056" y="163158"/>
            <a:ext cx="7646449" cy="797893"/>
          </a:xfrm>
        </p:spPr>
        <p:txBody>
          <a:bodyPr vert="horz" lIns="91440" tIns="45720" rIns="91440" bIns="45720" rtlCol="0" anchor="b">
            <a:noAutofit/>
          </a:bodyPr>
          <a:lstStyle/>
          <a:p>
            <a:r>
              <a:rPr lang="en-US" sz="4800">
                <a:cs typeface="Calibri Light" panose="020F0302020204030204"/>
              </a:rPr>
              <a:t>New Data on Trained Model  </a:t>
            </a:r>
            <a:endParaRPr lang="en-US" sz="4800" kern="1200">
              <a:solidFill>
                <a:schemeClr val="tx1"/>
              </a:solidFill>
              <a:latin typeface="+mj-lt"/>
              <a:cs typeface="Calibri Light" panose="020F0302020204030204"/>
            </a:endParaRPr>
          </a:p>
        </p:txBody>
      </p:sp>
      <p:sp>
        <p:nvSpPr>
          <p:cNvPr id="3" name="Text Placeholder 2">
            <a:extLst>
              <a:ext uri="{FF2B5EF4-FFF2-40B4-BE49-F238E27FC236}">
                <a16:creationId xmlns:a16="http://schemas.microsoft.com/office/drawing/2014/main" id="{9D07E59F-9ED6-46CA-BB11-D96DA8BF6147}"/>
              </a:ext>
            </a:extLst>
          </p:cNvPr>
          <p:cNvSpPr>
            <a:spLocks noGrp="1"/>
          </p:cNvSpPr>
          <p:nvPr>
            <p:ph type="body" idx="1"/>
          </p:nvPr>
        </p:nvSpPr>
        <p:spPr>
          <a:xfrm>
            <a:off x="1294642" y="1006398"/>
            <a:ext cx="10674574" cy="4282191"/>
          </a:xfrm>
        </p:spPr>
        <p:txBody>
          <a:bodyPr vert="horz" lIns="91440" tIns="45720" rIns="91440" bIns="45720" rtlCol="0" anchor="t">
            <a:normAutofit/>
          </a:bodyPr>
          <a:lstStyle/>
          <a:p>
            <a:endParaRPr lang="en-US">
              <a:solidFill>
                <a:schemeClr val="tx1"/>
              </a:solidFill>
              <a:cs typeface="Calibri"/>
            </a:endParaRPr>
          </a:p>
          <a:p>
            <a:pPr marL="342900" indent="-342900">
              <a:buChar char="•"/>
            </a:pPr>
            <a:r>
              <a:rPr lang="en-US">
                <a:solidFill>
                  <a:schemeClr val="tx1"/>
                </a:solidFill>
                <a:cs typeface="Calibri"/>
              </a:rPr>
              <a:t>Purpose of this project was to get a trained model and predict  if the elevator is jammed or not. </a:t>
            </a:r>
          </a:p>
          <a:p>
            <a:pPr marL="342900" indent="-342900">
              <a:buChar char="•"/>
            </a:pPr>
            <a:r>
              <a:rPr lang="en-US">
                <a:solidFill>
                  <a:schemeClr val="tx1"/>
                </a:solidFill>
                <a:cs typeface="Calibri"/>
              </a:rPr>
              <a:t>We have trained model which successfully work on test data.</a:t>
            </a:r>
          </a:p>
          <a:p>
            <a:pPr marL="342900" indent="-342900">
              <a:buChar char="•"/>
            </a:pPr>
            <a:r>
              <a:rPr lang="en-US">
                <a:solidFill>
                  <a:schemeClr val="tx1"/>
                </a:solidFill>
                <a:cs typeface="Calibri"/>
              </a:rPr>
              <a:t>Now we get new 5 cases as seen below</a:t>
            </a:r>
          </a:p>
          <a:p>
            <a:pPr marL="342900" indent="-342900">
              <a:buChar char="•"/>
            </a:pPr>
            <a:r>
              <a:rPr lang="en-US">
                <a:solidFill>
                  <a:schemeClr val="tx1"/>
                </a:solidFill>
                <a:cs typeface="Calibri"/>
              </a:rPr>
              <a:t>Case 2 and Case 4 are challenging because elevator jam occurred near the nominal elevator </a:t>
            </a:r>
            <a:r>
              <a:rPr lang="en-US">
                <a:solidFill>
                  <a:schemeClr val="tx1"/>
                </a:solidFill>
                <a:ea typeface="+mn-lt"/>
                <a:cs typeface="+mn-lt"/>
              </a:rPr>
              <a:t> </a:t>
            </a:r>
            <a:r>
              <a:rPr lang="en-US" b="1">
                <a:cs typeface="Calibri"/>
              </a:rPr>
              <a:t>"δ" _</a:t>
            </a:r>
            <a:r>
              <a:rPr lang="en-US">
                <a:cs typeface="Calibri"/>
              </a:rPr>
              <a:t>e= 0.97°</a:t>
            </a:r>
            <a:endParaRPr lang="en-US">
              <a:solidFill>
                <a:schemeClr val="tx1"/>
              </a:solidFill>
              <a:cs typeface="Calibri"/>
            </a:endParaRPr>
          </a:p>
          <a:p>
            <a:r>
              <a:rPr lang="en-US">
                <a:solidFill>
                  <a:schemeClr val="tx1"/>
                </a:solidFill>
                <a:cs typeface="Calibri"/>
              </a:rPr>
              <a:t>     </a:t>
            </a:r>
          </a:p>
          <a:p>
            <a:pPr marL="342900" indent="-342900">
              <a:buChar char="•"/>
            </a:pPr>
            <a:endParaRPr lang="en-US">
              <a:solidFill>
                <a:schemeClr val="tx1"/>
              </a:solidFill>
              <a:cs typeface="Calibri"/>
            </a:endParaRPr>
          </a:p>
        </p:txBody>
      </p:sp>
      <p:pic>
        <p:nvPicPr>
          <p:cNvPr id="6" name="Picture 6" descr="A screenshot of a cell phone&#10;&#10;Description generated with very high confidence">
            <a:extLst>
              <a:ext uri="{FF2B5EF4-FFF2-40B4-BE49-F238E27FC236}">
                <a16:creationId xmlns:a16="http://schemas.microsoft.com/office/drawing/2014/main" id="{530D4984-285E-46B2-A8DD-FA7575C9B1FA}"/>
              </a:ext>
            </a:extLst>
          </p:cNvPr>
          <p:cNvPicPr>
            <a:picLocks noChangeAspect="1"/>
          </p:cNvPicPr>
          <p:nvPr/>
        </p:nvPicPr>
        <p:blipFill>
          <a:blip r:embed="rId2"/>
          <a:stretch>
            <a:fillRect/>
          </a:stretch>
        </p:blipFill>
        <p:spPr>
          <a:xfrm>
            <a:off x="1498948" y="4051384"/>
            <a:ext cx="10363200" cy="1552710"/>
          </a:xfrm>
          <a:prstGeom prst="rect">
            <a:avLst/>
          </a:prstGeom>
        </p:spPr>
      </p:pic>
      <p:sp>
        <p:nvSpPr>
          <p:cNvPr id="5" name="TextBox 4">
            <a:extLst>
              <a:ext uri="{FF2B5EF4-FFF2-40B4-BE49-F238E27FC236}">
                <a16:creationId xmlns:a16="http://schemas.microsoft.com/office/drawing/2014/main" id="{FB4B147E-9D37-4C79-8C33-CCF9E4D95D37}"/>
              </a:ext>
            </a:extLst>
          </p:cNvPr>
          <p:cNvSpPr txBox="1"/>
          <p:nvPr/>
        </p:nvSpPr>
        <p:spPr>
          <a:xfrm>
            <a:off x="2706130" y="5548183"/>
            <a:ext cx="660468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Fig 6: Five different new cased crated to be tested on trained models </a:t>
            </a:r>
            <a:endParaRPr lang="en-US"/>
          </a:p>
        </p:txBody>
      </p:sp>
    </p:spTree>
    <p:extLst>
      <p:ext uri="{BB962C8B-B14F-4D97-AF65-F5344CB8AC3E}">
        <p14:creationId xmlns:p14="http://schemas.microsoft.com/office/powerpoint/2010/main" val="26618008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270761-CC40-4F3F-A916-7E3BC3989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695" cy="6858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820855C-9FA4-417A-BE67-63C022F81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7E6A49B-1B06-403E-8CC5-ACB38A6BD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2435" y="891540"/>
            <a:ext cx="10989565" cy="507111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DE12B5-FE84-47C7-9DFA-974E21CF7051}"/>
              </a:ext>
            </a:extLst>
          </p:cNvPr>
          <p:cNvSpPr>
            <a:spLocks noGrp="1"/>
          </p:cNvSpPr>
          <p:nvPr>
            <p:ph type="title"/>
          </p:nvPr>
        </p:nvSpPr>
        <p:spPr>
          <a:xfrm>
            <a:off x="1202056" y="163158"/>
            <a:ext cx="7646449" cy="797893"/>
          </a:xfrm>
        </p:spPr>
        <p:txBody>
          <a:bodyPr vert="horz" lIns="91440" tIns="45720" rIns="91440" bIns="45720" rtlCol="0" anchor="b">
            <a:noAutofit/>
          </a:bodyPr>
          <a:lstStyle/>
          <a:p>
            <a:r>
              <a:rPr lang="en-US" sz="4800">
                <a:cs typeface="Calibri Light" panose="020F0302020204030204"/>
              </a:rPr>
              <a:t>New Data on Trained Model  </a:t>
            </a:r>
            <a:endParaRPr lang="en-US" sz="4800" kern="1200">
              <a:solidFill>
                <a:schemeClr val="tx1"/>
              </a:solidFill>
              <a:latin typeface="+mj-lt"/>
              <a:cs typeface="Calibri Light" panose="020F0302020204030204"/>
            </a:endParaRPr>
          </a:p>
        </p:txBody>
      </p:sp>
      <p:sp>
        <p:nvSpPr>
          <p:cNvPr id="3" name="Text Placeholder 2">
            <a:extLst>
              <a:ext uri="{FF2B5EF4-FFF2-40B4-BE49-F238E27FC236}">
                <a16:creationId xmlns:a16="http://schemas.microsoft.com/office/drawing/2014/main" id="{9D07E59F-9ED6-46CA-BB11-D96DA8BF6147}"/>
              </a:ext>
            </a:extLst>
          </p:cNvPr>
          <p:cNvSpPr>
            <a:spLocks noGrp="1"/>
          </p:cNvSpPr>
          <p:nvPr>
            <p:ph type="body" idx="1"/>
          </p:nvPr>
        </p:nvSpPr>
        <p:spPr>
          <a:xfrm>
            <a:off x="1407912" y="1246480"/>
            <a:ext cx="10448034" cy="4282191"/>
          </a:xfrm>
        </p:spPr>
        <p:txBody>
          <a:bodyPr vert="horz" lIns="91440" tIns="45720" rIns="91440" bIns="45720" rtlCol="0" anchor="t">
            <a:normAutofit fontScale="92500"/>
          </a:bodyPr>
          <a:lstStyle/>
          <a:p>
            <a:endParaRPr lang="en-US">
              <a:solidFill>
                <a:schemeClr val="tx1"/>
              </a:solidFill>
              <a:cs typeface="Calibri"/>
            </a:endParaRPr>
          </a:p>
          <a:p>
            <a:pPr marL="342900" indent="-342900">
              <a:buChar char="•"/>
            </a:pPr>
            <a:r>
              <a:rPr lang="en-US">
                <a:solidFill>
                  <a:schemeClr val="tx1"/>
                </a:solidFill>
                <a:cs typeface="Calibri"/>
              </a:rPr>
              <a:t>Each row in data represent state conditions sampled at 0.005 seconds intervals </a:t>
            </a:r>
          </a:p>
          <a:p>
            <a:pPr marL="342900" indent="-342900">
              <a:buChar char="•"/>
            </a:pPr>
            <a:r>
              <a:rPr lang="en-US">
                <a:solidFill>
                  <a:schemeClr val="tx1"/>
                </a:solidFill>
                <a:cs typeface="Calibri"/>
              </a:rPr>
              <a:t>In real life, it might be impractical to predict if the elevator is stuck in 0.005 second intervals</a:t>
            </a:r>
          </a:p>
          <a:p>
            <a:pPr marL="342900" indent="-342900">
              <a:buChar char="•"/>
            </a:pPr>
            <a:r>
              <a:rPr lang="en-US">
                <a:solidFill>
                  <a:schemeClr val="tx1"/>
                </a:solidFill>
                <a:cs typeface="Calibri"/>
              </a:rPr>
              <a:t>New data is formed to reflect this, with 0.05 second intervals of simulation</a:t>
            </a:r>
          </a:p>
          <a:p>
            <a:pPr marL="342900" indent="-342900">
              <a:buChar char="•"/>
            </a:pPr>
            <a:r>
              <a:rPr lang="en-US">
                <a:solidFill>
                  <a:schemeClr val="tx1"/>
                </a:solidFill>
                <a:cs typeface="Calibri"/>
              </a:rPr>
              <a:t>Decision tree was found to be the best and fastest algorithm in this project </a:t>
            </a:r>
          </a:p>
          <a:p>
            <a:pPr marL="342900" indent="-342900">
              <a:buChar char="•"/>
            </a:pPr>
            <a:r>
              <a:rPr lang="en-US">
                <a:solidFill>
                  <a:schemeClr val="tx1"/>
                </a:solidFill>
                <a:cs typeface="Calibri"/>
              </a:rPr>
              <a:t>In all 5 different new cases, elevator stuck is detected accurately within 0.3 seconds</a:t>
            </a:r>
          </a:p>
          <a:p>
            <a:pPr marL="342900" indent="-342900">
              <a:buChar char="•"/>
            </a:pPr>
            <a:r>
              <a:rPr lang="en-US">
                <a:solidFill>
                  <a:schemeClr val="tx1"/>
                </a:solidFill>
                <a:cs typeface="Calibri"/>
              </a:rPr>
              <a:t>However,  accuracy in case#2 and  case#4 are lower comparing other cases. </a:t>
            </a:r>
          </a:p>
          <a:p>
            <a:pPr marL="342900" indent="-342900">
              <a:buChar char="•"/>
            </a:pPr>
            <a:r>
              <a:rPr lang="en-US">
                <a:solidFill>
                  <a:schemeClr val="tx1"/>
                </a:solidFill>
                <a:cs typeface="Calibri"/>
              </a:rPr>
              <a:t>In other case, the accuracy is almost 1. </a:t>
            </a:r>
          </a:p>
          <a:p>
            <a:r>
              <a:rPr lang="en-US">
                <a:solidFill>
                  <a:schemeClr val="tx1"/>
                </a:solidFill>
                <a:cs typeface="Calibri"/>
              </a:rPr>
              <a:t>     </a:t>
            </a:r>
          </a:p>
          <a:p>
            <a:pPr marL="342900" indent="-342900">
              <a:buChar char="•"/>
            </a:pPr>
            <a:endParaRPr lang="en-US">
              <a:solidFill>
                <a:schemeClr val="tx1"/>
              </a:solidFill>
              <a:cs typeface="Calibri"/>
            </a:endParaRPr>
          </a:p>
        </p:txBody>
      </p:sp>
    </p:spTree>
    <p:extLst>
      <p:ext uri="{BB962C8B-B14F-4D97-AF65-F5344CB8AC3E}">
        <p14:creationId xmlns:p14="http://schemas.microsoft.com/office/powerpoint/2010/main" val="23267039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270761-CC40-4F3F-A916-7E3BC3989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695" cy="6858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820855C-9FA4-417A-BE67-63C022F81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7E6A49B-1B06-403E-8CC5-ACB38A6BD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2435" y="891540"/>
            <a:ext cx="10989565" cy="507111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DE12B5-FE84-47C7-9DFA-974E21CF7051}"/>
              </a:ext>
            </a:extLst>
          </p:cNvPr>
          <p:cNvSpPr>
            <a:spLocks noGrp="1"/>
          </p:cNvSpPr>
          <p:nvPr>
            <p:ph type="title"/>
          </p:nvPr>
        </p:nvSpPr>
        <p:spPr>
          <a:xfrm>
            <a:off x="1202056" y="163158"/>
            <a:ext cx="7646449" cy="797893"/>
          </a:xfrm>
        </p:spPr>
        <p:txBody>
          <a:bodyPr vert="horz" lIns="91440" tIns="45720" rIns="91440" bIns="45720" rtlCol="0" anchor="b">
            <a:noAutofit/>
          </a:bodyPr>
          <a:lstStyle/>
          <a:p>
            <a:r>
              <a:rPr lang="en-US" sz="4800">
                <a:cs typeface="Calibri Light" panose="020F0302020204030204"/>
              </a:rPr>
              <a:t>New Data on Trained Model  </a:t>
            </a:r>
            <a:endParaRPr lang="en-US" sz="4800" kern="1200">
              <a:solidFill>
                <a:schemeClr val="tx1"/>
              </a:solidFill>
              <a:latin typeface="+mj-lt"/>
              <a:cs typeface="Calibri Light" panose="020F0302020204030204"/>
            </a:endParaRPr>
          </a:p>
        </p:txBody>
      </p:sp>
      <p:pic>
        <p:nvPicPr>
          <p:cNvPr id="7" name="Picture 8" descr="A screenshot of a cell phone&#10;&#10;Description generated with high confidence">
            <a:extLst>
              <a:ext uri="{FF2B5EF4-FFF2-40B4-BE49-F238E27FC236}">
                <a16:creationId xmlns:a16="http://schemas.microsoft.com/office/drawing/2014/main" id="{B2F956D8-FAFC-4C50-953C-DBC22CF976F2}"/>
              </a:ext>
            </a:extLst>
          </p:cNvPr>
          <p:cNvPicPr>
            <a:picLocks noChangeAspect="1"/>
          </p:cNvPicPr>
          <p:nvPr/>
        </p:nvPicPr>
        <p:blipFill>
          <a:blip r:embed="rId2"/>
          <a:stretch>
            <a:fillRect/>
          </a:stretch>
        </p:blipFill>
        <p:spPr>
          <a:xfrm>
            <a:off x="7342170" y="3388457"/>
            <a:ext cx="3473884" cy="2225179"/>
          </a:xfrm>
          <a:prstGeom prst="rect">
            <a:avLst/>
          </a:prstGeom>
        </p:spPr>
      </p:pic>
      <p:sp>
        <p:nvSpPr>
          <p:cNvPr id="11" name="TextBox 10">
            <a:extLst>
              <a:ext uri="{FF2B5EF4-FFF2-40B4-BE49-F238E27FC236}">
                <a16:creationId xmlns:a16="http://schemas.microsoft.com/office/drawing/2014/main" id="{A1834BD5-A78A-4A6D-B979-4AA6D0DF7DB4}"/>
              </a:ext>
            </a:extLst>
          </p:cNvPr>
          <p:cNvSpPr txBox="1"/>
          <p:nvPr/>
        </p:nvSpPr>
        <p:spPr>
          <a:xfrm>
            <a:off x="8159043" y="5589512"/>
            <a:ext cx="27165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Fig 7b:PR graph</a:t>
            </a:r>
            <a:endParaRPr lang="en-US"/>
          </a:p>
        </p:txBody>
      </p:sp>
      <p:pic>
        <p:nvPicPr>
          <p:cNvPr id="13" name="Picture 13" descr="A screenshot of a cell phone&#10;&#10;Description generated with very high confidence">
            <a:extLst>
              <a:ext uri="{FF2B5EF4-FFF2-40B4-BE49-F238E27FC236}">
                <a16:creationId xmlns:a16="http://schemas.microsoft.com/office/drawing/2014/main" id="{14881010-6B56-4C66-B341-CB490197D388}"/>
              </a:ext>
            </a:extLst>
          </p:cNvPr>
          <p:cNvPicPr>
            <a:picLocks noChangeAspect="1"/>
          </p:cNvPicPr>
          <p:nvPr/>
        </p:nvPicPr>
        <p:blipFill>
          <a:blip r:embed="rId3"/>
          <a:stretch>
            <a:fillRect/>
          </a:stretch>
        </p:blipFill>
        <p:spPr>
          <a:xfrm>
            <a:off x="7300277" y="1246422"/>
            <a:ext cx="3400816" cy="1809170"/>
          </a:xfrm>
          <a:prstGeom prst="rect">
            <a:avLst/>
          </a:prstGeom>
        </p:spPr>
      </p:pic>
      <p:sp>
        <p:nvSpPr>
          <p:cNvPr id="15" name="TextBox 14">
            <a:extLst>
              <a:ext uri="{FF2B5EF4-FFF2-40B4-BE49-F238E27FC236}">
                <a16:creationId xmlns:a16="http://schemas.microsoft.com/office/drawing/2014/main" id="{19F38C35-CC98-436C-9610-6D764FADCDDD}"/>
              </a:ext>
            </a:extLst>
          </p:cNvPr>
          <p:cNvSpPr txBox="1"/>
          <p:nvPr/>
        </p:nvSpPr>
        <p:spPr>
          <a:xfrm>
            <a:off x="7822599" y="3096140"/>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Fig 7a : Confusion Matrix </a:t>
            </a:r>
          </a:p>
        </p:txBody>
      </p:sp>
      <p:sp>
        <p:nvSpPr>
          <p:cNvPr id="4" name="Text Placeholder 2">
            <a:extLst>
              <a:ext uri="{FF2B5EF4-FFF2-40B4-BE49-F238E27FC236}">
                <a16:creationId xmlns:a16="http://schemas.microsoft.com/office/drawing/2014/main" id="{D673CA33-1B5B-4793-9965-33DD4EBB6FD6}"/>
              </a:ext>
            </a:extLst>
          </p:cNvPr>
          <p:cNvSpPr txBox="1">
            <a:spLocks/>
          </p:cNvSpPr>
          <p:nvPr/>
        </p:nvSpPr>
        <p:spPr>
          <a:xfrm>
            <a:off x="1401614" y="1196101"/>
            <a:ext cx="5299385" cy="4282191"/>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US">
              <a:solidFill>
                <a:schemeClr val="tx1"/>
              </a:solidFill>
              <a:cs typeface="Calibri"/>
            </a:endParaRPr>
          </a:p>
          <a:p>
            <a:pPr marL="342900" indent="-342900">
              <a:buFont typeface="Arial" panose="020B0604020202020204" pitchFamily="34" charset="0"/>
              <a:buChar char="•"/>
            </a:pPr>
            <a:r>
              <a:rPr lang="en-US">
                <a:solidFill>
                  <a:schemeClr val="tx1"/>
                </a:solidFill>
                <a:cs typeface="Calibri"/>
              </a:rPr>
              <a:t>Result for Case 1:</a:t>
            </a:r>
          </a:p>
          <a:p>
            <a:pPr marL="800100" lvl="1">
              <a:buFont typeface="Arial" panose="020B0604020202020204" pitchFamily="34" charset="0"/>
              <a:buChar char="•"/>
            </a:pPr>
            <a:r>
              <a:rPr lang="en-US">
                <a:solidFill>
                  <a:schemeClr val="tx1"/>
                </a:solidFill>
                <a:cs typeface="Calibri"/>
              </a:rPr>
              <a:t>Elevator jammed at 3 degree  (nominal was 0.97 degree)</a:t>
            </a:r>
            <a:endParaRPr lang="en-US">
              <a:solidFill>
                <a:schemeClr val="tx1"/>
              </a:solidFill>
              <a:ea typeface="+mn-lt"/>
              <a:cs typeface="+mn-lt"/>
            </a:endParaRPr>
          </a:p>
          <a:p>
            <a:pPr marL="800100" lvl="1">
              <a:buFont typeface="Arial" panose="020B0604020202020204" pitchFamily="34" charset="0"/>
              <a:buChar char="•"/>
            </a:pPr>
            <a:r>
              <a:rPr lang="en-US">
                <a:solidFill>
                  <a:schemeClr val="tx1"/>
                </a:solidFill>
                <a:ea typeface="+mn-lt"/>
                <a:cs typeface="+mn-lt"/>
              </a:rPr>
              <a:t>Model: Decision Tree</a:t>
            </a:r>
            <a:endParaRPr lang="en-US">
              <a:solidFill>
                <a:schemeClr val="tx1"/>
              </a:solidFill>
              <a:cs typeface="Calibri"/>
            </a:endParaRPr>
          </a:p>
          <a:p>
            <a:pPr marL="342900" indent="-342900">
              <a:buFont typeface="Arial" panose="020B0604020202020204" pitchFamily="34" charset="0"/>
              <a:buChar char="•"/>
            </a:pPr>
            <a:r>
              <a:rPr lang="en-US">
                <a:solidFill>
                  <a:schemeClr val="tx1"/>
                </a:solidFill>
                <a:latin typeface="Calibri"/>
                <a:ea typeface="+mn-lt"/>
                <a:cs typeface="+mn-lt"/>
              </a:rPr>
              <a:t>Metrics:</a:t>
            </a:r>
          </a:p>
          <a:p>
            <a:r>
              <a:rPr lang="en-US">
                <a:solidFill>
                  <a:schemeClr val="tx1"/>
                </a:solidFill>
                <a:latin typeface="Calibri"/>
                <a:ea typeface="+mn-lt"/>
                <a:cs typeface="+mn-lt"/>
              </a:rPr>
              <a:t>Accuracy: 0.964
Precision:  1.0
Recall:  0.948
f-measure:  0.9736</a:t>
            </a:r>
            <a:endParaRPr lang="en-US">
              <a:solidFill>
                <a:schemeClr val="tx1"/>
              </a:solidFill>
              <a:latin typeface="Calibri"/>
              <a:cs typeface="Calibri"/>
            </a:endParaRPr>
          </a:p>
          <a:p>
            <a:pPr marL="342900" indent="-342900">
              <a:buFont typeface="Arial" panose="020B0604020202020204" pitchFamily="34" charset="0"/>
              <a:buChar char="•"/>
            </a:pPr>
            <a:endParaRPr lang="en-US">
              <a:solidFill>
                <a:schemeClr val="tx1"/>
              </a:solidFill>
              <a:cs typeface="Calibri"/>
            </a:endParaRPr>
          </a:p>
          <a:p>
            <a:endParaRPr lang="en-US">
              <a:solidFill>
                <a:schemeClr val="tx1"/>
              </a:solidFill>
              <a:cs typeface="Calibri"/>
            </a:endParaRPr>
          </a:p>
          <a:p>
            <a:pPr marL="342900" indent="-342900">
              <a:buFont typeface="Arial" panose="020B0604020202020204" pitchFamily="34" charset="0"/>
              <a:buChar char="•"/>
            </a:pPr>
            <a:endParaRPr lang="en-US">
              <a:solidFill>
                <a:schemeClr val="tx1"/>
              </a:solidFill>
              <a:cs typeface="Calibri"/>
            </a:endParaRPr>
          </a:p>
          <a:p>
            <a:r>
              <a:rPr lang="en-US">
                <a:solidFill>
                  <a:schemeClr val="tx1"/>
                </a:solidFill>
                <a:cs typeface="Calibri"/>
              </a:rPr>
              <a:t>     </a:t>
            </a:r>
          </a:p>
          <a:p>
            <a:pPr marL="342900" indent="-342900">
              <a:buFont typeface="Arial" panose="020B0604020202020204" pitchFamily="34" charset="0"/>
              <a:buChar char="•"/>
            </a:pPr>
            <a:endParaRPr lang="en-US">
              <a:solidFill>
                <a:schemeClr val="tx1"/>
              </a:solidFill>
              <a:cs typeface="Calibri"/>
            </a:endParaRPr>
          </a:p>
        </p:txBody>
      </p:sp>
    </p:spTree>
    <p:extLst>
      <p:ext uri="{BB962C8B-B14F-4D97-AF65-F5344CB8AC3E}">
        <p14:creationId xmlns:p14="http://schemas.microsoft.com/office/powerpoint/2010/main" val="29975938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270761-CC40-4F3F-A916-7E3BC3989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695" cy="6858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820855C-9FA4-417A-BE67-63C022F81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7E6A49B-1B06-403E-8CC5-ACB38A6BD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2435" y="891540"/>
            <a:ext cx="10989565" cy="507111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DE12B5-FE84-47C7-9DFA-974E21CF7051}"/>
              </a:ext>
            </a:extLst>
          </p:cNvPr>
          <p:cNvSpPr>
            <a:spLocks noGrp="1"/>
          </p:cNvSpPr>
          <p:nvPr>
            <p:ph type="title"/>
          </p:nvPr>
        </p:nvSpPr>
        <p:spPr>
          <a:xfrm>
            <a:off x="1202056" y="163158"/>
            <a:ext cx="7646449" cy="797893"/>
          </a:xfrm>
        </p:spPr>
        <p:txBody>
          <a:bodyPr vert="horz" lIns="91440" tIns="45720" rIns="91440" bIns="45720" rtlCol="0" anchor="b">
            <a:noAutofit/>
          </a:bodyPr>
          <a:lstStyle/>
          <a:p>
            <a:r>
              <a:rPr lang="en-US" sz="4800">
                <a:cs typeface="Calibri Light" panose="020F0302020204030204"/>
              </a:rPr>
              <a:t>New Data on Trained Model  </a:t>
            </a:r>
            <a:endParaRPr lang="en-US" sz="4800" kern="1200">
              <a:solidFill>
                <a:schemeClr val="tx1"/>
              </a:solidFill>
              <a:latin typeface="+mj-lt"/>
              <a:cs typeface="Calibri Light" panose="020F0302020204030204"/>
            </a:endParaRPr>
          </a:p>
        </p:txBody>
      </p:sp>
      <p:sp>
        <p:nvSpPr>
          <p:cNvPr id="3" name="Text Placeholder 2">
            <a:extLst>
              <a:ext uri="{FF2B5EF4-FFF2-40B4-BE49-F238E27FC236}">
                <a16:creationId xmlns:a16="http://schemas.microsoft.com/office/drawing/2014/main" id="{9D07E59F-9ED6-46CA-BB11-D96DA8BF6147}"/>
              </a:ext>
            </a:extLst>
          </p:cNvPr>
          <p:cNvSpPr>
            <a:spLocks noGrp="1"/>
          </p:cNvSpPr>
          <p:nvPr>
            <p:ph type="body" idx="1"/>
          </p:nvPr>
        </p:nvSpPr>
        <p:spPr>
          <a:xfrm>
            <a:off x="1407912" y="1246480"/>
            <a:ext cx="5299385" cy="4282191"/>
          </a:xfrm>
        </p:spPr>
        <p:txBody>
          <a:bodyPr vert="horz" lIns="91440" tIns="45720" rIns="91440" bIns="45720" rtlCol="0" anchor="t">
            <a:noAutofit/>
          </a:bodyPr>
          <a:lstStyle/>
          <a:p>
            <a:endParaRPr lang="en-US">
              <a:solidFill>
                <a:schemeClr val="tx1"/>
              </a:solidFill>
              <a:cs typeface="Calibri"/>
            </a:endParaRPr>
          </a:p>
          <a:p>
            <a:pPr marL="342900" indent="-342900">
              <a:buChar char="•"/>
            </a:pPr>
            <a:r>
              <a:rPr lang="en-US">
                <a:solidFill>
                  <a:schemeClr val="tx1"/>
                </a:solidFill>
                <a:cs typeface="Calibri"/>
              </a:rPr>
              <a:t>Result for Case 2:</a:t>
            </a:r>
          </a:p>
          <a:p>
            <a:pPr marL="800100" lvl="1">
              <a:buChar char="•"/>
            </a:pPr>
            <a:r>
              <a:rPr lang="en-US">
                <a:solidFill>
                  <a:schemeClr val="tx1"/>
                </a:solidFill>
                <a:cs typeface="Calibri"/>
              </a:rPr>
              <a:t>Elevator jammed at 1 degree  (nominal was 0.97 degree)</a:t>
            </a:r>
            <a:endParaRPr lang="en-US">
              <a:solidFill>
                <a:schemeClr val="tx1"/>
              </a:solidFill>
              <a:ea typeface="+mn-lt"/>
              <a:cs typeface="+mn-lt"/>
            </a:endParaRPr>
          </a:p>
          <a:p>
            <a:pPr marL="800100" lvl="1">
              <a:buChar char="•"/>
            </a:pPr>
            <a:r>
              <a:rPr lang="en-US">
                <a:solidFill>
                  <a:schemeClr val="tx1"/>
                </a:solidFill>
                <a:ea typeface="+mn-lt"/>
                <a:cs typeface="+mn-lt"/>
              </a:rPr>
              <a:t>Model: Decision Tree</a:t>
            </a:r>
            <a:endParaRPr lang="en-US">
              <a:solidFill>
                <a:schemeClr val="tx1"/>
              </a:solidFill>
              <a:cs typeface="Calibri"/>
            </a:endParaRPr>
          </a:p>
          <a:p>
            <a:pPr marL="342900" indent="-342900">
              <a:buChar char="•"/>
            </a:pPr>
            <a:r>
              <a:rPr lang="en-US">
                <a:solidFill>
                  <a:schemeClr val="tx1"/>
                </a:solidFill>
                <a:latin typeface="Calibri"/>
                <a:ea typeface="+mn-lt"/>
                <a:cs typeface="+mn-lt"/>
              </a:rPr>
              <a:t>Metrics:</a:t>
            </a:r>
          </a:p>
          <a:p>
            <a:r>
              <a:rPr lang="en-US">
                <a:solidFill>
                  <a:schemeClr val="tx1"/>
                </a:solidFill>
                <a:latin typeface="Calibri"/>
                <a:ea typeface="+mn-lt"/>
                <a:cs typeface="+mn-lt"/>
              </a:rPr>
              <a:t>Accuracy: 0.837 
Precision:  1.0
Recall:  0.674
f-measure:  0.805</a:t>
            </a:r>
            <a:endParaRPr lang="en-US">
              <a:solidFill>
                <a:schemeClr val="tx1"/>
              </a:solidFill>
              <a:latin typeface="Calibri"/>
              <a:cs typeface="Calibri"/>
            </a:endParaRPr>
          </a:p>
          <a:p>
            <a:pPr marL="342900" indent="-342900">
              <a:buChar char="•"/>
            </a:pPr>
            <a:endParaRPr lang="en-US">
              <a:solidFill>
                <a:schemeClr val="tx1"/>
              </a:solidFill>
              <a:cs typeface="Calibri"/>
            </a:endParaRPr>
          </a:p>
          <a:p>
            <a:endParaRPr lang="en-US">
              <a:solidFill>
                <a:schemeClr val="tx1"/>
              </a:solidFill>
              <a:cs typeface="Calibri"/>
            </a:endParaRPr>
          </a:p>
          <a:p>
            <a:pPr marL="342900" indent="-342900">
              <a:buChar char="•"/>
            </a:pPr>
            <a:endParaRPr lang="en-US">
              <a:solidFill>
                <a:schemeClr val="tx1"/>
              </a:solidFill>
              <a:cs typeface="Calibri"/>
            </a:endParaRPr>
          </a:p>
          <a:p>
            <a:r>
              <a:rPr lang="en-US">
                <a:solidFill>
                  <a:schemeClr val="tx1"/>
                </a:solidFill>
                <a:cs typeface="Calibri"/>
              </a:rPr>
              <a:t>     </a:t>
            </a:r>
          </a:p>
          <a:p>
            <a:pPr marL="342900" indent="-342900">
              <a:buChar char="•"/>
            </a:pPr>
            <a:endParaRPr lang="en-US">
              <a:solidFill>
                <a:schemeClr val="tx1"/>
              </a:solidFill>
              <a:cs typeface="Calibri"/>
            </a:endParaRPr>
          </a:p>
        </p:txBody>
      </p:sp>
      <p:sp>
        <p:nvSpPr>
          <p:cNvPr id="11" name="TextBox 10">
            <a:extLst>
              <a:ext uri="{FF2B5EF4-FFF2-40B4-BE49-F238E27FC236}">
                <a16:creationId xmlns:a16="http://schemas.microsoft.com/office/drawing/2014/main" id="{A1834BD5-A78A-4A6D-B979-4AA6D0DF7DB4}"/>
              </a:ext>
            </a:extLst>
          </p:cNvPr>
          <p:cNvSpPr txBox="1"/>
          <p:nvPr/>
        </p:nvSpPr>
        <p:spPr>
          <a:xfrm>
            <a:off x="8106851" y="5631265"/>
            <a:ext cx="27165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Fig 8b:PR graph</a:t>
            </a:r>
            <a:endParaRPr lang="en-US"/>
          </a:p>
        </p:txBody>
      </p:sp>
      <p:sp>
        <p:nvSpPr>
          <p:cNvPr id="15" name="TextBox 14">
            <a:extLst>
              <a:ext uri="{FF2B5EF4-FFF2-40B4-BE49-F238E27FC236}">
                <a16:creationId xmlns:a16="http://schemas.microsoft.com/office/drawing/2014/main" id="{19F38C35-CC98-436C-9610-6D764FADCDDD}"/>
              </a:ext>
            </a:extLst>
          </p:cNvPr>
          <p:cNvSpPr txBox="1"/>
          <p:nvPr/>
        </p:nvSpPr>
        <p:spPr>
          <a:xfrm>
            <a:off x="7822599" y="3096140"/>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Fig 8a : Confusion Matrix </a:t>
            </a:r>
          </a:p>
        </p:txBody>
      </p:sp>
      <p:pic>
        <p:nvPicPr>
          <p:cNvPr id="4" name="Picture 4" descr="A screenshot of a cell phone&#10;&#10;Description generated with very high confidence">
            <a:extLst>
              <a:ext uri="{FF2B5EF4-FFF2-40B4-BE49-F238E27FC236}">
                <a16:creationId xmlns:a16="http://schemas.microsoft.com/office/drawing/2014/main" id="{0AD6F2E0-A203-4597-9A15-DC22A79473B8}"/>
              </a:ext>
            </a:extLst>
          </p:cNvPr>
          <p:cNvPicPr>
            <a:picLocks noChangeAspect="1"/>
          </p:cNvPicPr>
          <p:nvPr/>
        </p:nvPicPr>
        <p:blipFill>
          <a:blip r:embed="rId2"/>
          <a:stretch>
            <a:fillRect/>
          </a:stretch>
        </p:blipFill>
        <p:spPr>
          <a:xfrm>
            <a:off x="7344427" y="1065487"/>
            <a:ext cx="3484323" cy="1992176"/>
          </a:xfrm>
          <a:prstGeom prst="rect">
            <a:avLst/>
          </a:prstGeom>
        </p:spPr>
      </p:pic>
      <p:pic>
        <p:nvPicPr>
          <p:cNvPr id="6" name="Picture 8" descr="A close up of a white wall&#10;&#10;Description generated with high confidence">
            <a:extLst>
              <a:ext uri="{FF2B5EF4-FFF2-40B4-BE49-F238E27FC236}">
                <a16:creationId xmlns:a16="http://schemas.microsoft.com/office/drawing/2014/main" id="{F5F5B60C-B4A1-4894-9A7E-C45BB5A59566}"/>
              </a:ext>
            </a:extLst>
          </p:cNvPr>
          <p:cNvPicPr>
            <a:picLocks noChangeAspect="1"/>
          </p:cNvPicPr>
          <p:nvPr/>
        </p:nvPicPr>
        <p:blipFill>
          <a:blip r:embed="rId3"/>
          <a:stretch>
            <a:fillRect/>
          </a:stretch>
        </p:blipFill>
        <p:spPr>
          <a:xfrm>
            <a:off x="7465174" y="3535204"/>
            <a:ext cx="3222095" cy="2149903"/>
          </a:xfrm>
          <a:prstGeom prst="rect">
            <a:avLst/>
          </a:prstGeom>
        </p:spPr>
      </p:pic>
    </p:spTree>
    <p:extLst>
      <p:ext uri="{BB962C8B-B14F-4D97-AF65-F5344CB8AC3E}">
        <p14:creationId xmlns:p14="http://schemas.microsoft.com/office/powerpoint/2010/main" val="1017295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270761-CC40-4F3F-A916-7E3BC3989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695" cy="6858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820855C-9FA4-417A-BE67-63C022F81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7E6A49B-1B06-403E-8CC5-ACB38A6BD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2435" y="891540"/>
            <a:ext cx="10989565" cy="507111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DE12B5-FE84-47C7-9DFA-974E21CF7051}"/>
              </a:ext>
            </a:extLst>
          </p:cNvPr>
          <p:cNvSpPr>
            <a:spLocks noGrp="1"/>
          </p:cNvSpPr>
          <p:nvPr>
            <p:ph type="title"/>
          </p:nvPr>
        </p:nvSpPr>
        <p:spPr>
          <a:xfrm>
            <a:off x="1202056" y="163158"/>
            <a:ext cx="7646449" cy="797893"/>
          </a:xfrm>
        </p:spPr>
        <p:txBody>
          <a:bodyPr vert="horz" lIns="91440" tIns="45720" rIns="91440" bIns="45720" rtlCol="0" anchor="b">
            <a:noAutofit/>
          </a:bodyPr>
          <a:lstStyle/>
          <a:p>
            <a:r>
              <a:rPr lang="en-US" sz="4800">
                <a:cs typeface="Calibri Light" panose="020F0302020204030204"/>
              </a:rPr>
              <a:t>New Data on Trained Model  </a:t>
            </a:r>
            <a:endParaRPr lang="en-US" sz="4800" kern="1200">
              <a:solidFill>
                <a:schemeClr val="tx1"/>
              </a:solidFill>
              <a:latin typeface="+mj-lt"/>
              <a:cs typeface="Calibri Light" panose="020F0302020204030204"/>
            </a:endParaRPr>
          </a:p>
        </p:txBody>
      </p:sp>
      <p:sp>
        <p:nvSpPr>
          <p:cNvPr id="3" name="Text Placeholder 2">
            <a:extLst>
              <a:ext uri="{FF2B5EF4-FFF2-40B4-BE49-F238E27FC236}">
                <a16:creationId xmlns:a16="http://schemas.microsoft.com/office/drawing/2014/main" id="{9D07E59F-9ED6-46CA-BB11-D96DA8BF6147}"/>
              </a:ext>
            </a:extLst>
          </p:cNvPr>
          <p:cNvSpPr>
            <a:spLocks noGrp="1"/>
          </p:cNvSpPr>
          <p:nvPr>
            <p:ph type="body" idx="1"/>
          </p:nvPr>
        </p:nvSpPr>
        <p:spPr>
          <a:xfrm>
            <a:off x="1407912" y="1246480"/>
            <a:ext cx="10448034" cy="4282191"/>
          </a:xfrm>
        </p:spPr>
        <p:txBody>
          <a:bodyPr vert="horz" lIns="91440" tIns="45720" rIns="91440" bIns="45720" rtlCol="0" anchor="t">
            <a:noAutofit/>
          </a:bodyPr>
          <a:lstStyle/>
          <a:p>
            <a:endParaRPr lang="en-US">
              <a:solidFill>
                <a:schemeClr val="tx1"/>
              </a:solidFill>
              <a:cs typeface="Calibri"/>
            </a:endParaRPr>
          </a:p>
          <a:p>
            <a:pPr marL="342900" indent="-342900">
              <a:buChar char="•"/>
            </a:pPr>
            <a:r>
              <a:rPr lang="en-US">
                <a:solidFill>
                  <a:schemeClr val="tx1"/>
                </a:solidFill>
                <a:ea typeface="+mn-lt"/>
                <a:cs typeface="+mn-lt"/>
              </a:rPr>
              <a:t>Other methods have been tested using other cases but are not shown here:</a:t>
            </a:r>
          </a:p>
          <a:p>
            <a:pPr marL="342900" indent="-342900">
              <a:buChar char="•"/>
            </a:pPr>
            <a:r>
              <a:rPr lang="en-US">
                <a:solidFill>
                  <a:schemeClr val="tx1"/>
                </a:solidFill>
                <a:ea typeface="+mn-lt"/>
                <a:cs typeface="+mn-lt"/>
              </a:rPr>
              <a:t>Accuracy for case #2 and #4 are low comparing with cases 1, 3, and 5</a:t>
            </a:r>
          </a:p>
          <a:p>
            <a:pPr marL="800100" lvl="1">
              <a:buChar char="•"/>
            </a:pPr>
            <a:r>
              <a:rPr lang="en-US" sz="2400">
                <a:solidFill>
                  <a:schemeClr val="tx1"/>
                </a:solidFill>
                <a:ea typeface="+mn-lt"/>
                <a:cs typeface="+mn-lt"/>
              </a:rPr>
              <a:t>This was found to be because the stuck condition is very close to the nominal value for the elevator – so the behavior of the features look as if they were nominal as well</a:t>
            </a:r>
          </a:p>
          <a:p>
            <a:pPr marL="800100" lvl="1">
              <a:buChar char="•"/>
            </a:pPr>
            <a:r>
              <a:rPr lang="en-US" sz="2400">
                <a:solidFill>
                  <a:schemeClr val="tx1"/>
                </a:solidFill>
                <a:cs typeface="Calibri"/>
              </a:rPr>
              <a:t>The control system may have easily compensated for the small stuck case and recovered the aircraft for a short period of time. </a:t>
            </a:r>
          </a:p>
          <a:p>
            <a:pPr marL="1257300" lvl="2">
              <a:buChar char="•"/>
            </a:pPr>
            <a:r>
              <a:rPr lang="en-US" sz="2400">
                <a:solidFill>
                  <a:schemeClr val="tx1"/>
                </a:solidFill>
                <a:cs typeface="Calibri"/>
              </a:rPr>
              <a:t>In this period, the aircraft behavior may look normal – even though the label is stuck!</a:t>
            </a:r>
          </a:p>
          <a:p>
            <a:pPr marL="342900" indent="-342900">
              <a:buChar char="•"/>
            </a:pPr>
            <a:endParaRPr lang="en-US">
              <a:solidFill>
                <a:schemeClr val="tx1"/>
              </a:solidFill>
              <a:cs typeface="Calibri"/>
            </a:endParaRPr>
          </a:p>
          <a:p>
            <a:endParaRPr lang="en-US">
              <a:solidFill>
                <a:schemeClr val="tx1"/>
              </a:solidFill>
              <a:cs typeface="Calibri"/>
            </a:endParaRPr>
          </a:p>
          <a:p>
            <a:endParaRPr lang="en-US">
              <a:solidFill>
                <a:schemeClr val="tx1"/>
              </a:solidFill>
              <a:cs typeface="Calibri"/>
            </a:endParaRPr>
          </a:p>
          <a:p>
            <a:r>
              <a:rPr lang="en-US">
                <a:solidFill>
                  <a:schemeClr val="tx1"/>
                </a:solidFill>
                <a:cs typeface="Calibri"/>
              </a:rPr>
              <a:t>     </a:t>
            </a:r>
          </a:p>
          <a:p>
            <a:pPr marL="342900" indent="-342900">
              <a:buChar char="•"/>
            </a:pPr>
            <a:endParaRPr lang="en-US">
              <a:solidFill>
                <a:schemeClr val="tx1"/>
              </a:solidFill>
              <a:cs typeface="Calibri"/>
            </a:endParaRPr>
          </a:p>
        </p:txBody>
      </p:sp>
    </p:spTree>
    <p:extLst>
      <p:ext uri="{BB962C8B-B14F-4D97-AF65-F5344CB8AC3E}">
        <p14:creationId xmlns:p14="http://schemas.microsoft.com/office/powerpoint/2010/main" val="22348508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270761-CC40-4F3F-A916-7E3BC3989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695" cy="6858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820855C-9FA4-417A-BE67-63C022F81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7E6A49B-1B06-403E-8CC5-ACB38A6BD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2435" y="891540"/>
            <a:ext cx="10989565" cy="507111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DE12B5-FE84-47C7-9DFA-974E21CF7051}"/>
              </a:ext>
            </a:extLst>
          </p:cNvPr>
          <p:cNvSpPr>
            <a:spLocks noGrp="1"/>
          </p:cNvSpPr>
          <p:nvPr>
            <p:ph type="title"/>
          </p:nvPr>
        </p:nvSpPr>
        <p:spPr>
          <a:xfrm>
            <a:off x="1202056" y="163158"/>
            <a:ext cx="7646449" cy="797893"/>
          </a:xfrm>
        </p:spPr>
        <p:txBody>
          <a:bodyPr vert="horz" lIns="91440" tIns="45720" rIns="91440" bIns="45720" rtlCol="0" anchor="b">
            <a:noAutofit/>
          </a:bodyPr>
          <a:lstStyle/>
          <a:p>
            <a:r>
              <a:rPr lang="en-US" sz="4800">
                <a:cs typeface="Calibri Light" panose="020F0302020204030204"/>
              </a:rPr>
              <a:t>Conclusion  </a:t>
            </a:r>
            <a:endParaRPr lang="en-US" sz="4800" kern="1200">
              <a:solidFill>
                <a:schemeClr val="tx1"/>
              </a:solidFill>
              <a:latin typeface="+mj-lt"/>
              <a:cs typeface="Calibri Light" panose="020F0302020204030204"/>
            </a:endParaRPr>
          </a:p>
        </p:txBody>
      </p:sp>
      <p:sp>
        <p:nvSpPr>
          <p:cNvPr id="3" name="Text Placeholder 2">
            <a:extLst>
              <a:ext uri="{FF2B5EF4-FFF2-40B4-BE49-F238E27FC236}">
                <a16:creationId xmlns:a16="http://schemas.microsoft.com/office/drawing/2014/main" id="{9D07E59F-9ED6-46CA-BB11-D96DA8BF6147}"/>
              </a:ext>
            </a:extLst>
          </p:cNvPr>
          <p:cNvSpPr>
            <a:spLocks noGrp="1"/>
          </p:cNvSpPr>
          <p:nvPr>
            <p:ph type="body" idx="1"/>
          </p:nvPr>
        </p:nvSpPr>
        <p:spPr>
          <a:xfrm>
            <a:off x="1407912" y="1246480"/>
            <a:ext cx="10448034" cy="4282191"/>
          </a:xfrm>
        </p:spPr>
        <p:txBody>
          <a:bodyPr vert="horz" lIns="91440" tIns="45720" rIns="91440" bIns="45720" rtlCol="0" anchor="t">
            <a:normAutofit fontScale="85000" lnSpcReduction="20000"/>
          </a:bodyPr>
          <a:lstStyle/>
          <a:p>
            <a:endParaRPr lang="en-US">
              <a:solidFill>
                <a:schemeClr val="tx1"/>
              </a:solidFill>
              <a:cs typeface="Calibri"/>
            </a:endParaRPr>
          </a:p>
          <a:p>
            <a:pPr marL="342900" indent="-342900">
              <a:buChar char="•"/>
            </a:pPr>
            <a:r>
              <a:rPr lang="en-US">
                <a:solidFill>
                  <a:schemeClr val="tx1"/>
                </a:solidFill>
                <a:cs typeface="Calibri"/>
              </a:rPr>
              <a:t>Frequency-Domain technique was not as adequate as working with the time-domain data directly</a:t>
            </a:r>
          </a:p>
          <a:p>
            <a:pPr marL="800100" lvl="1">
              <a:buChar char="•"/>
            </a:pPr>
            <a:r>
              <a:rPr lang="en-US">
                <a:solidFill>
                  <a:schemeClr val="tx1"/>
                </a:solidFill>
                <a:cs typeface="Calibri"/>
              </a:rPr>
              <a:t>Data is not necessarily time-dependent</a:t>
            </a:r>
          </a:p>
          <a:p>
            <a:pPr marL="342900" indent="-342900">
              <a:buChar char="•"/>
            </a:pPr>
            <a:r>
              <a:rPr lang="en-US">
                <a:solidFill>
                  <a:schemeClr val="tx1"/>
                </a:solidFill>
                <a:cs typeface="Calibri"/>
              </a:rPr>
              <a:t>Many known supervised ML algorithms have performed well using the time-domain data</a:t>
            </a:r>
          </a:p>
          <a:p>
            <a:pPr marL="342900" indent="-342900">
              <a:buChar char="•"/>
            </a:pPr>
            <a:r>
              <a:rPr lang="en-US">
                <a:solidFill>
                  <a:schemeClr val="tx1"/>
                </a:solidFill>
                <a:ea typeface="+mn-lt"/>
                <a:cs typeface="+mn-lt"/>
              </a:rPr>
              <a:t>Decision Tree is  fastest and most accurate method found in this project</a:t>
            </a:r>
          </a:p>
          <a:p>
            <a:pPr marL="342900" indent="-342900">
              <a:buChar char="•"/>
            </a:pPr>
            <a:r>
              <a:rPr lang="en-US">
                <a:solidFill>
                  <a:schemeClr val="tx1"/>
                </a:solidFill>
                <a:ea typeface="+mn-lt"/>
                <a:cs typeface="+mn-lt"/>
              </a:rPr>
              <a:t>In all 5 possible new test cases, the stuck class was detected in less than 0.3 second of the actuator failure incidence </a:t>
            </a:r>
          </a:p>
          <a:p>
            <a:pPr marL="342900" indent="-342900">
              <a:buChar char="•"/>
            </a:pPr>
            <a:r>
              <a:rPr lang="en-US">
                <a:solidFill>
                  <a:schemeClr val="tx1"/>
                </a:solidFill>
                <a:ea typeface="+mn-lt"/>
                <a:cs typeface="+mn-lt"/>
              </a:rPr>
              <a:t>For small (stuck distance from nominal) stuck angles, the accuracy drops however </a:t>
            </a:r>
          </a:p>
          <a:p>
            <a:pPr marL="342900" indent="-342900">
              <a:buChar char="•"/>
            </a:pPr>
            <a:r>
              <a:rPr lang="en-US">
                <a:solidFill>
                  <a:schemeClr val="tx1"/>
                </a:solidFill>
                <a:ea typeface="+mn-lt"/>
                <a:cs typeface="+mn-lt"/>
              </a:rPr>
              <a:t>The methods explored in this project might be useful for actuator detection in real-time applications</a:t>
            </a:r>
          </a:p>
          <a:p>
            <a:endParaRPr lang="en-US">
              <a:solidFill>
                <a:schemeClr val="tx1"/>
              </a:solidFill>
              <a:ea typeface="+mn-lt"/>
              <a:cs typeface="+mn-lt"/>
            </a:endParaRPr>
          </a:p>
          <a:p>
            <a:endParaRPr lang="en-US">
              <a:solidFill>
                <a:schemeClr val="tx1"/>
              </a:solidFill>
              <a:cs typeface="Calibri"/>
            </a:endParaRPr>
          </a:p>
          <a:p>
            <a:r>
              <a:rPr lang="en-US">
                <a:solidFill>
                  <a:schemeClr val="tx1"/>
                </a:solidFill>
                <a:cs typeface="Calibri"/>
              </a:rPr>
              <a:t>     </a:t>
            </a:r>
          </a:p>
          <a:p>
            <a:pPr marL="342900" indent="-342900">
              <a:buChar char="•"/>
            </a:pPr>
            <a:endParaRPr lang="en-US">
              <a:solidFill>
                <a:schemeClr val="tx1"/>
              </a:solidFill>
              <a:cs typeface="Calibri"/>
            </a:endParaRPr>
          </a:p>
        </p:txBody>
      </p:sp>
    </p:spTree>
    <p:extLst>
      <p:ext uri="{BB962C8B-B14F-4D97-AF65-F5344CB8AC3E}">
        <p14:creationId xmlns:p14="http://schemas.microsoft.com/office/powerpoint/2010/main" val="3599427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270761-CC40-4F3F-A916-7E3BC3989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695" cy="6858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820855C-9FA4-417A-BE67-63C022F81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7E6A49B-1B06-403E-8CC5-ACB38A6BD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2435" y="891540"/>
            <a:ext cx="10989565" cy="507111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DE12B5-FE84-47C7-9DFA-974E21CF7051}"/>
              </a:ext>
            </a:extLst>
          </p:cNvPr>
          <p:cNvSpPr>
            <a:spLocks noGrp="1"/>
          </p:cNvSpPr>
          <p:nvPr>
            <p:ph type="title"/>
          </p:nvPr>
        </p:nvSpPr>
        <p:spPr>
          <a:xfrm>
            <a:off x="1202056" y="163158"/>
            <a:ext cx="7646449" cy="797893"/>
          </a:xfrm>
        </p:spPr>
        <p:txBody>
          <a:bodyPr vert="horz" lIns="91440" tIns="45720" rIns="91440" bIns="45720" rtlCol="0" anchor="b">
            <a:noAutofit/>
          </a:bodyPr>
          <a:lstStyle/>
          <a:p>
            <a:r>
              <a:rPr lang="en-US" sz="4800">
                <a:cs typeface="Calibri Light" panose="020F0302020204030204"/>
              </a:rPr>
              <a:t>Future Work  </a:t>
            </a:r>
            <a:endParaRPr lang="en-US" sz="4800" kern="1200">
              <a:solidFill>
                <a:schemeClr val="tx1"/>
              </a:solidFill>
              <a:latin typeface="+mj-lt"/>
              <a:cs typeface="Calibri Light" panose="020F0302020204030204"/>
            </a:endParaRPr>
          </a:p>
        </p:txBody>
      </p:sp>
      <p:sp>
        <p:nvSpPr>
          <p:cNvPr id="3" name="Text Placeholder 2">
            <a:extLst>
              <a:ext uri="{FF2B5EF4-FFF2-40B4-BE49-F238E27FC236}">
                <a16:creationId xmlns:a16="http://schemas.microsoft.com/office/drawing/2014/main" id="{9D07E59F-9ED6-46CA-BB11-D96DA8BF6147}"/>
              </a:ext>
            </a:extLst>
          </p:cNvPr>
          <p:cNvSpPr>
            <a:spLocks noGrp="1"/>
          </p:cNvSpPr>
          <p:nvPr>
            <p:ph type="body" idx="1"/>
          </p:nvPr>
        </p:nvSpPr>
        <p:spPr>
          <a:xfrm>
            <a:off x="1407912" y="1246480"/>
            <a:ext cx="10448034" cy="4282191"/>
          </a:xfrm>
        </p:spPr>
        <p:txBody>
          <a:bodyPr vert="horz" lIns="91440" tIns="45720" rIns="91440" bIns="45720" rtlCol="0" anchor="t">
            <a:normAutofit/>
          </a:bodyPr>
          <a:lstStyle/>
          <a:p>
            <a:endParaRPr lang="en-US">
              <a:solidFill>
                <a:schemeClr val="tx1"/>
              </a:solidFill>
              <a:cs typeface="Calibri"/>
            </a:endParaRPr>
          </a:p>
          <a:p>
            <a:pPr marL="342900" indent="-342900">
              <a:buChar char="•"/>
            </a:pPr>
            <a:r>
              <a:rPr lang="en-US">
                <a:solidFill>
                  <a:schemeClr val="tx1"/>
                </a:solidFill>
                <a:ea typeface="+mn-lt"/>
                <a:cs typeface="+mn-lt"/>
              </a:rPr>
              <a:t>Simulations were running for level flight only. Coordinated turns and some other maneuvers might be considered</a:t>
            </a:r>
          </a:p>
          <a:p>
            <a:pPr marL="342900" indent="-342900">
              <a:buChar char="•"/>
            </a:pPr>
            <a:r>
              <a:rPr lang="en-US">
                <a:solidFill>
                  <a:schemeClr val="tx1"/>
                </a:solidFill>
                <a:ea typeface="+mn-lt"/>
                <a:cs typeface="+mn-lt"/>
              </a:rPr>
              <a:t>Other actuator failures could be investigated </a:t>
            </a:r>
          </a:p>
          <a:p>
            <a:pPr marL="342900" indent="-342900">
              <a:buChar char="•"/>
            </a:pPr>
            <a:r>
              <a:rPr lang="en-US">
                <a:solidFill>
                  <a:schemeClr val="tx1"/>
                </a:solidFill>
                <a:ea typeface="+mn-lt"/>
                <a:cs typeface="+mn-lt"/>
              </a:rPr>
              <a:t>More than 1 actuator failure at the same time could be investigated though such a case is rare to see in real life</a:t>
            </a:r>
          </a:p>
          <a:p>
            <a:endParaRPr lang="en-US">
              <a:solidFill>
                <a:schemeClr val="tx1"/>
              </a:solidFill>
              <a:cs typeface="Calibri"/>
            </a:endParaRPr>
          </a:p>
          <a:p>
            <a:endParaRPr lang="en-US">
              <a:solidFill>
                <a:schemeClr val="tx1"/>
              </a:solidFill>
              <a:cs typeface="Calibri"/>
            </a:endParaRPr>
          </a:p>
          <a:p>
            <a:r>
              <a:rPr lang="en-US">
                <a:solidFill>
                  <a:schemeClr val="tx1"/>
                </a:solidFill>
                <a:cs typeface="Calibri"/>
              </a:rPr>
              <a:t>     </a:t>
            </a:r>
          </a:p>
          <a:p>
            <a:pPr marL="342900" indent="-342900">
              <a:buChar char="•"/>
            </a:pPr>
            <a:endParaRPr lang="en-US">
              <a:solidFill>
                <a:schemeClr val="tx1"/>
              </a:solidFill>
              <a:cs typeface="Calibri"/>
            </a:endParaRPr>
          </a:p>
        </p:txBody>
      </p:sp>
    </p:spTree>
    <p:extLst>
      <p:ext uri="{BB962C8B-B14F-4D97-AF65-F5344CB8AC3E}">
        <p14:creationId xmlns:p14="http://schemas.microsoft.com/office/powerpoint/2010/main" val="5758515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C602DC3-9AE9-41A8-A15E-4A92F171B3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C6AEE9-843C-4A81-88A7-BA364A81482A}"/>
              </a:ext>
            </a:extLst>
          </p:cNvPr>
          <p:cNvSpPr>
            <a:spLocks noGrp="1"/>
          </p:cNvSpPr>
          <p:nvPr>
            <p:ph type="title"/>
          </p:nvPr>
        </p:nvSpPr>
        <p:spPr>
          <a:xfrm>
            <a:off x="1303850" y="891541"/>
            <a:ext cx="5566386" cy="976107"/>
          </a:xfrm>
        </p:spPr>
        <p:txBody>
          <a:bodyPr vert="horz" lIns="91440" tIns="45720" rIns="91440" bIns="45720" rtlCol="0" anchor="b">
            <a:normAutofit fontScale="90000"/>
          </a:bodyPr>
          <a:lstStyle/>
          <a:p>
            <a:r>
              <a:rPr lang="en-US" sz="8800">
                <a:cs typeface="Calibri Light"/>
              </a:rPr>
              <a:t>References</a:t>
            </a:r>
            <a:endParaRPr lang="en-US" sz="8800" kern="120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48F01F6A-6C72-4BB3-AAE9-82A31B10CA32}"/>
              </a:ext>
            </a:extLst>
          </p:cNvPr>
          <p:cNvSpPr>
            <a:spLocks noGrp="1"/>
          </p:cNvSpPr>
          <p:nvPr>
            <p:ph type="body" idx="1"/>
          </p:nvPr>
        </p:nvSpPr>
        <p:spPr>
          <a:xfrm>
            <a:off x="1303850" y="1842663"/>
            <a:ext cx="5966123" cy="3506842"/>
          </a:xfrm>
        </p:spPr>
        <p:txBody>
          <a:bodyPr vert="horz" lIns="91440" tIns="45720" rIns="91440" bIns="45720" rtlCol="0" anchor="t">
            <a:normAutofit/>
          </a:bodyPr>
          <a:lstStyle/>
          <a:p>
            <a:r>
              <a:rPr lang="en-US" sz="1100">
                <a:ea typeface="+mn-lt"/>
                <a:cs typeface="+mn-lt"/>
              </a:rPr>
              <a:t>[1]  </a:t>
            </a:r>
            <a:r>
              <a:rPr lang="en-US" sz="1100" u="sng">
                <a:ea typeface="+mn-lt"/>
                <a:cs typeface="+mn-lt"/>
                <a:hlinkClick r:id="rId2"/>
              </a:rPr>
              <a:t>https://github.com/nasa/GTM_DesignSim</a:t>
            </a:r>
            <a:r>
              <a:rPr lang="en-US" sz="1100">
                <a:ea typeface="+mn-lt"/>
                <a:cs typeface="+mn-lt"/>
              </a:rPr>
              <a:t> </a:t>
            </a:r>
            <a:endParaRPr lang="en-US"/>
          </a:p>
          <a:p>
            <a:r>
              <a:rPr lang="en-US" sz="1100">
                <a:ea typeface="+mn-lt"/>
                <a:cs typeface="+mn-lt"/>
              </a:rPr>
              <a:t>[2] B. Chang, M. Bayram, H. </a:t>
            </a:r>
            <a:r>
              <a:rPr lang="en-US" sz="1100" err="1">
                <a:ea typeface="+mn-lt"/>
                <a:cs typeface="+mn-lt"/>
              </a:rPr>
              <a:t>Kwatny</a:t>
            </a:r>
            <a:r>
              <a:rPr lang="en-US" sz="1100">
                <a:ea typeface="+mn-lt"/>
                <a:cs typeface="+mn-lt"/>
              </a:rPr>
              <a:t> and C. M. Belcastro, "Flight path and altitude tracking control of an impaired nonlinear generic transport model (GTM) aircraft with elevator jam failures," 2016 IEEE Conference on Control Applications (CCA), Buenos Aires, 2016, pp. 15-20.</a:t>
            </a:r>
            <a:endParaRPr lang="en-US"/>
          </a:p>
          <a:p>
            <a:r>
              <a:rPr lang="en-US" sz="1100">
                <a:ea typeface="+mn-lt"/>
                <a:cs typeface="+mn-lt"/>
              </a:rPr>
              <a:t>[3] Chan, P. C., Chang, B. C., Bayram, M., </a:t>
            </a:r>
            <a:r>
              <a:rPr lang="en-US" sz="1100" err="1">
                <a:ea typeface="+mn-lt"/>
                <a:cs typeface="+mn-lt"/>
              </a:rPr>
              <a:t>Kwatny</a:t>
            </a:r>
            <a:r>
              <a:rPr lang="en-US" sz="1100">
                <a:ea typeface="+mn-lt"/>
                <a:cs typeface="+mn-lt"/>
              </a:rPr>
              <a:t>, H., &amp; Belcastro, C. M. (2019). Robust tracking control of an aircraft with critical actuator jam failures. </a:t>
            </a:r>
            <a:r>
              <a:rPr lang="en-US" sz="1100" i="1">
                <a:ea typeface="+mn-lt"/>
                <a:cs typeface="+mn-lt"/>
              </a:rPr>
              <a:t>Asian Journal of Control</a:t>
            </a:r>
            <a:r>
              <a:rPr lang="en-US" sz="1100">
                <a:ea typeface="+mn-lt"/>
                <a:cs typeface="+mn-lt"/>
              </a:rPr>
              <a:t>.</a:t>
            </a:r>
            <a:endParaRPr lang="en-US"/>
          </a:p>
          <a:p>
            <a:r>
              <a:rPr lang="en-US" sz="1100">
                <a:ea typeface="+mn-lt"/>
                <a:cs typeface="+mn-lt"/>
              </a:rPr>
              <a:t>[4] </a:t>
            </a:r>
            <a:r>
              <a:rPr lang="en-US" sz="1100" u="sng">
                <a:ea typeface="+mn-lt"/>
                <a:cs typeface="+mn-lt"/>
                <a:hlinkClick r:id="rId3"/>
              </a:rPr>
              <a:t>https://www.ntsb.gov/investigations/data/Pages/aviation_stats.aspx</a:t>
            </a:r>
            <a:endParaRPr lang="en-US"/>
          </a:p>
          <a:p>
            <a:r>
              <a:rPr lang="en-US" sz="1100">
                <a:ea typeface="+mn-lt"/>
                <a:cs typeface="+mn-lt"/>
              </a:rPr>
              <a:t>[5] </a:t>
            </a:r>
            <a:r>
              <a:rPr lang="en-US" sz="1100" u="sng">
                <a:ea typeface="+mn-lt"/>
                <a:cs typeface="+mn-lt"/>
                <a:hlinkClick r:id="rId4"/>
              </a:rPr>
              <a:t>https://www.ntsb.gov/investigations/AccidentReports/Reports/AAR0201.pdf</a:t>
            </a:r>
            <a:endParaRPr lang="en-US"/>
          </a:p>
          <a:p>
            <a:r>
              <a:rPr lang="en-US" sz="1100">
                <a:ea typeface="+mn-lt"/>
                <a:cs typeface="+mn-lt"/>
              </a:rPr>
              <a:t>[6].</a:t>
            </a:r>
            <a:r>
              <a:rPr lang="en-US" sz="1100" u="sng">
                <a:ea typeface="+mn-lt"/>
                <a:cs typeface="+mn-lt"/>
                <a:hlinkClick r:id="rId5"/>
              </a:rPr>
              <a:t>https://www.emerald.com/insight/content/doi/10.1108/00022660510585992/full/pdf?title=sensor-and-control-surfaceactuator-failure-detection-and-isolation-applied-to-f16-flight-dynamic</a:t>
            </a:r>
            <a:r>
              <a:rPr lang="en-US" sz="1100">
                <a:ea typeface="+mn-lt"/>
                <a:cs typeface="+mn-lt"/>
              </a:rPr>
              <a:t> </a:t>
            </a:r>
            <a:endParaRPr lang="en-US"/>
          </a:p>
          <a:p>
            <a:r>
              <a:rPr lang="en-US" sz="1100">
                <a:ea typeface="+mn-lt"/>
                <a:cs typeface="+mn-lt"/>
              </a:rPr>
              <a:t>[7]. </a:t>
            </a:r>
            <a:r>
              <a:rPr lang="en-US" sz="1100" u="sng">
                <a:ea typeface="+mn-lt"/>
                <a:cs typeface="+mn-lt"/>
                <a:hlinkClick r:id="rId6"/>
              </a:rPr>
              <a:t>https://www.ncbi.nlm.nih.gov/pmc/articles/PMC4098612/</a:t>
            </a:r>
            <a:r>
              <a:rPr lang="en-US" sz="1100">
                <a:ea typeface="+mn-lt"/>
                <a:cs typeface="+mn-lt"/>
              </a:rPr>
              <a:t> </a:t>
            </a:r>
            <a:endParaRPr lang="en-US"/>
          </a:p>
          <a:p>
            <a:r>
              <a:rPr lang="en-US" sz="1100">
                <a:ea typeface="+mn-lt"/>
                <a:cs typeface="+mn-lt"/>
              </a:rPr>
              <a:t>[8]. </a:t>
            </a:r>
            <a:r>
              <a:rPr lang="en-US" sz="1100" u="sng">
                <a:ea typeface="+mn-lt"/>
                <a:cs typeface="+mn-lt"/>
                <a:hlinkClick r:id="rId7"/>
              </a:rPr>
              <a:t>https://www-clinicalkey-com.ezproxy2.library.drexel.edu/#!/content/journal/1-s2.0-S0730725X08000775</a:t>
            </a:r>
            <a:r>
              <a:rPr lang="en-US" sz="1100">
                <a:ea typeface="+mn-lt"/>
                <a:cs typeface="+mn-lt"/>
              </a:rPr>
              <a:t> </a:t>
            </a:r>
            <a:endParaRPr lang="en-US"/>
          </a:p>
          <a:p>
            <a:r>
              <a:rPr lang="en-US" sz="1100">
                <a:ea typeface="+mn-lt"/>
                <a:cs typeface="+mn-lt"/>
              </a:rPr>
              <a:t>[9]. </a:t>
            </a:r>
            <a:r>
              <a:rPr lang="en-US" sz="1100" u="sng">
                <a:ea typeface="+mn-lt"/>
                <a:cs typeface="+mn-lt"/>
                <a:hlinkClick r:id="rId8"/>
              </a:rPr>
              <a:t>http://ataspinar.com/2018/04/04/machine-learning-with-signal-processing-techniques/</a:t>
            </a:r>
            <a:r>
              <a:rPr lang="en-US" sz="1100">
                <a:ea typeface="+mn-lt"/>
                <a:cs typeface="+mn-lt"/>
              </a:rPr>
              <a:t> </a:t>
            </a:r>
            <a:endParaRPr lang="en-US"/>
          </a:p>
          <a:p>
            <a:endParaRPr lang="en-US" sz="1100">
              <a:solidFill>
                <a:srgbClr val="898989"/>
              </a:solidFill>
              <a:ea typeface="+mn-lt"/>
              <a:cs typeface="+mn-lt"/>
            </a:endParaRPr>
          </a:p>
        </p:txBody>
      </p:sp>
      <p:sp>
        <p:nvSpPr>
          <p:cNvPr id="10" name="Rectangle 9">
            <a:extLst>
              <a:ext uri="{FF2B5EF4-FFF2-40B4-BE49-F238E27FC236}">
                <a16:creationId xmlns:a16="http://schemas.microsoft.com/office/drawing/2014/main" id="{1FD8995B-B799-4347-9329-AB4302D71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6B9930B-1C7C-4FD2-8FC6-263F72BA81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509" y="891540"/>
            <a:ext cx="4639186" cy="5071110"/>
          </a:xfrm>
          <a:prstGeom prst="rect">
            <a:avLst/>
          </a:prstGeom>
          <a:solidFill>
            <a:srgbClr val="687074"/>
          </a:solidFill>
          <a:ln>
            <a:noFill/>
          </a:ln>
          <a:effectLst>
            <a:outerShdw blurRad="406400" dist="317500" dir="5400000" sx="89000" sy="89000"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454846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1689</Words>
  <Application>Microsoft Macintosh PowerPoint</Application>
  <PresentationFormat>Widescreen</PresentationFormat>
  <Paragraphs>206</Paragraphs>
  <Slides>21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Baskerville Old Face</vt:lpstr>
      <vt:lpstr>Calibri</vt:lpstr>
      <vt:lpstr>Calibri Light</vt:lpstr>
      <vt:lpstr>office theme</vt:lpstr>
      <vt:lpstr>Aircraft Fault Detection through ML-based classification</vt:lpstr>
      <vt:lpstr>Introduction</vt:lpstr>
      <vt:lpstr>Problem Statement</vt:lpstr>
      <vt:lpstr>Data Collection </vt:lpstr>
      <vt:lpstr>Data Collection </vt:lpstr>
      <vt:lpstr>Flight Dynamics </vt:lpstr>
      <vt:lpstr>Preprocessing </vt:lpstr>
      <vt:lpstr>Basic Approach</vt:lpstr>
      <vt:lpstr>Supervised Learning: Frequency-Domain</vt:lpstr>
      <vt:lpstr>Supervised Learning: Frequency-Domain</vt:lpstr>
      <vt:lpstr>Supervised Learning: Frequency-Domain</vt:lpstr>
      <vt:lpstr>Supervised Learning: Time-Domain Data</vt:lpstr>
      <vt:lpstr>Supervised Learning: Time-Domain Data </vt:lpstr>
      <vt:lpstr>New Data on Trained Model  </vt:lpstr>
      <vt:lpstr>New Data on Trained Model  </vt:lpstr>
      <vt:lpstr>New Data on Trained Model  </vt:lpstr>
      <vt:lpstr>New Data on Trained Model  </vt:lpstr>
      <vt:lpstr>New Data on Trained Model  </vt:lpstr>
      <vt:lpstr>Conclusion  </vt:lpstr>
      <vt:lpstr>Future Work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Campos,Atzael</cp:lastModifiedBy>
  <cp:revision>2</cp:revision>
  <dcterms:created xsi:type="dcterms:W3CDTF">2020-03-17T14:23:00Z</dcterms:created>
  <dcterms:modified xsi:type="dcterms:W3CDTF">2020-03-29T16:04:42Z</dcterms:modified>
</cp:coreProperties>
</file>